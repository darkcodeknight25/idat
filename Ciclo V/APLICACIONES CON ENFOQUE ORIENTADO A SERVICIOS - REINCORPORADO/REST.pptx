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sldIdLst>
    <p:sldId id="256" r:id="rId2"/>
    <p:sldId id="500" r:id="rId3"/>
    <p:sldId id="257" r:id="rId4"/>
    <p:sldId id="259" r:id="rId5"/>
    <p:sldId id="562" r:id="rId6"/>
    <p:sldId id="563" r:id="rId7"/>
    <p:sldId id="564" r:id="rId8"/>
    <p:sldId id="565" r:id="rId9"/>
    <p:sldId id="588" r:id="rId10"/>
    <p:sldId id="566" r:id="rId11"/>
    <p:sldId id="567" r:id="rId12"/>
    <p:sldId id="589" r:id="rId13"/>
    <p:sldId id="590" r:id="rId14"/>
    <p:sldId id="591" r:id="rId15"/>
    <p:sldId id="592" r:id="rId16"/>
    <p:sldId id="568" r:id="rId17"/>
    <p:sldId id="569" r:id="rId18"/>
    <p:sldId id="570" r:id="rId19"/>
    <p:sldId id="555" r:id="rId20"/>
    <p:sldId id="571" r:id="rId21"/>
    <p:sldId id="572" r:id="rId22"/>
    <p:sldId id="593" r:id="rId23"/>
    <p:sldId id="594" r:id="rId24"/>
    <p:sldId id="595" r:id="rId25"/>
    <p:sldId id="573" r:id="rId26"/>
    <p:sldId id="574" r:id="rId27"/>
    <p:sldId id="596" r:id="rId28"/>
    <p:sldId id="575" r:id="rId29"/>
    <p:sldId id="576" r:id="rId30"/>
    <p:sldId id="577" r:id="rId31"/>
    <p:sldId id="597" r:id="rId32"/>
    <p:sldId id="598" r:id="rId33"/>
    <p:sldId id="578" r:id="rId34"/>
    <p:sldId id="579" r:id="rId35"/>
    <p:sldId id="580" r:id="rId36"/>
    <p:sldId id="599" r:id="rId37"/>
    <p:sldId id="600" r:id="rId38"/>
    <p:sldId id="581" r:id="rId39"/>
    <p:sldId id="582" r:id="rId40"/>
    <p:sldId id="583" r:id="rId41"/>
    <p:sldId id="556" r:id="rId42"/>
    <p:sldId id="584" r:id="rId43"/>
    <p:sldId id="585" r:id="rId44"/>
    <p:sldId id="586" r:id="rId45"/>
    <p:sldId id="559" r:id="rId46"/>
    <p:sldId id="560" r:id="rId47"/>
    <p:sldId id="265" r:id="rId48"/>
  </p:sldIdLst>
  <p:sldSz cx="12192000" cy="6858000"/>
  <p:notesSz cx="6858000" cy="9144000"/>
  <p:embeddedFontLst>
    <p:embeddedFont>
      <p:font typeface="Calibri" panose="020F0502020204030204" pitchFamily="34" charset="0"/>
      <p:regular r:id="rId49"/>
      <p:bold r:id="rId50"/>
      <p:italic r:id="rId51"/>
      <p:boldItalic r:id="rId52"/>
    </p:embeddedFont>
    <p:embeddedFont>
      <p:font typeface="Muller Regular"/>
      <p:regular r:id="rId53"/>
    </p:embeddedFont>
    <p:embeddedFont>
      <p:font typeface="Stag Book" panose="02000503060000020004" pitchFamily="2" charset="77"/>
      <p:regular r:id="rId54"/>
      <p:italic r:id="rId55"/>
    </p:embeddedFont>
    <p:embeddedFont>
      <p:font typeface="Stag Light" panose="02000603060000020004" pitchFamily="2" charset="77"/>
      <p:regular r:id="rId56"/>
      <p:italic r:id="rId57"/>
    </p:embeddedFont>
    <p:embeddedFont>
      <p:font typeface="Stag Medium" panose="02000603060000020004" pitchFamily="2" charset="77"/>
      <p:regular r:id="rId58"/>
      <p:italic r:id="rId59"/>
    </p:embeddedFont>
  </p:embeddedFontLst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F00ED"/>
    <a:srgbClr val="FFC820"/>
    <a:srgbClr val="E61052"/>
    <a:srgbClr val="2A2A2A"/>
    <a:srgbClr val="9FD7B7"/>
    <a:srgbClr val="EE646C"/>
    <a:srgbClr val="FF808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163" autoAdjust="0"/>
    <p:restoredTop sz="94660"/>
  </p:normalViewPr>
  <p:slideViewPr>
    <p:cSldViewPr snapToGrid="0">
      <p:cViewPr varScale="1">
        <p:scale>
          <a:sx n="65" d="100"/>
          <a:sy n="65" d="100"/>
        </p:scale>
        <p:origin x="78" y="2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font" Target="fonts/font2.fntdata"/><Relationship Id="rId55" Type="http://schemas.openxmlformats.org/officeDocument/2006/relationships/font" Target="fonts/font7.fntdata"/><Relationship Id="rId63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font" Target="fonts/font5.fntdata"/><Relationship Id="rId58" Type="http://schemas.openxmlformats.org/officeDocument/2006/relationships/font" Target="fonts/font10.fntdata"/><Relationship Id="rId5" Type="http://schemas.openxmlformats.org/officeDocument/2006/relationships/slide" Target="slides/slide4.xml"/><Relationship Id="rId61" Type="http://schemas.openxmlformats.org/officeDocument/2006/relationships/viewProps" Target="view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font" Target="fonts/font8.fntdata"/><Relationship Id="rId8" Type="http://schemas.openxmlformats.org/officeDocument/2006/relationships/slide" Target="slides/slide7.xml"/><Relationship Id="rId51" Type="http://schemas.openxmlformats.org/officeDocument/2006/relationships/font" Target="fonts/font3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font" Target="fonts/font11.fntdata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font" Target="fonts/font6.fntdata"/><Relationship Id="rId62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1.fntdata"/><Relationship Id="rId57" Type="http://schemas.openxmlformats.org/officeDocument/2006/relationships/font" Target="fonts/font9.fntdata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font" Target="fonts/font4.fntdata"/><Relationship Id="rId6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908421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color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bg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bg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5034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5107866"/>
            <a:ext cx="9439276" cy="550944"/>
          </a:xfrm>
        </p:spPr>
        <p:txBody>
          <a:bodyPr anchor="ctr"/>
          <a:lstStyle>
            <a:lvl1pPr algn="l">
              <a:defRPr sz="450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035782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Diapositiva de título_blanco_2linea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 hasCustomPrompt="1"/>
          </p:nvPr>
        </p:nvSpPr>
        <p:spPr>
          <a:xfrm>
            <a:off x="628649" y="4464427"/>
            <a:ext cx="9439276" cy="1210523"/>
          </a:xfrm>
        </p:spPr>
        <p:txBody>
          <a:bodyPr anchor="ctr"/>
          <a:lstStyle>
            <a:lvl1pPr algn="l">
              <a:defRPr sz="4500" baseline="0">
                <a:solidFill>
                  <a:schemeClr val="tx1"/>
                </a:solidFill>
                <a:latin typeface="Stag Book" panose="02000503060000020004" pitchFamily="50" charset="0"/>
              </a:defRPr>
            </a:lvl1pPr>
          </a:lstStyle>
          <a:p>
            <a:r>
              <a:rPr lang="es-ES" dirty="0"/>
              <a:t>Título de la presentación</a:t>
            </a:r>
            <a:br>
              <a:rPr lang="es-ES" dirty="0"/>
            </a:br>
            <a:r>
              <a:rPr lang="es-ES" dirty="0"/>
              <a:t>a 2 </a:t>
            </a:r>
            <a:r>
              <a:rPr lang="es-ES" dirty="0" err="1"/>
              <a:t>lineas</a:t>
            </a:r>
            <a:endParaRPr lang="es-PE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636942" y="5805307"/>
            <a:ext cx="6652578" cy="463549"/>
          </a:xfrm>
        </p:spPr>
        <p:txBody>
          <a:bodyPr anchor="ctr">
            <a:no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1468100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rcador de contenido 2"/>
          <p:cNvSpPr>
            <a:spLocks noGrp="1"/>
          </p:cNvSpPr>
          <p:nvPr>
            <p:ph idx="1"/>
          </p:nvPr>
        </p:nvSpPr>
        <p:spPr>
          <a:xfrm>
            <a:off x="838200" y="2224725"/>
            <a:ext cx="10515600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  <p:sp>
        <p:nvSpPr>
          <p:cNvPr id="7" name="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128149337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s objetos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contenido 2"/>
          <p:cNvSpPr>
            <a:spLocks noGrp="1"/>
          </p:cNvSpPr>
          <p:nvPr>
            <p:ph sz="half" idx="1"/>
          </p:nvPr>
        </p:nvSpPr>
        <p:spPr>
          <a:xfrm>
            <a:off x="838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6172200" y="2224725"/>
            <a:ext cx="5181600" cy="3921434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/>
          </a:p>
        </p:txBody>
      </p:sp>
      <p:sp>
        <p:nvSpPr>
          <p:cNvPr id="5" name="Marcador de fech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1902113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5" name="Marcador de texto 4"/>
          <p:cNvSpPr>
            <a:spLocks noGrp="1"/>
          </p:cNvSpPr>
          <p:nvPr>
            <p:ph type="body" sz="quarter" idx="3"/>
          </p:nvPr>
        </p:nvSpPr>
        <p:spPr>
          <a:xfrm>
            <a:off x="6172200" y="2224725"/>
            <a:ext cx="5183188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3031958"/>
            <a:ext cx="5183188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0241255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Compara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8200" y="543882"/>
            <a:ext cx="9409111" cy="63722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9788" y="2224725"/>
            <a:ext cx="5157787" cy="637220"/>
          </a:xfrm>
        </p:spPr>
        <p:txBody>
          <a:bodyPr anchor="ctr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Marcador de contenido 3"/>
          <p:cNvSpPr>
            <a:spLocks noGrp="1"/>
          </p:cNvSpPr>
          <p:nvPr>
            <p:ph sz="half" idx="2"/>
          </p:nvPr>
        </p:nvSpPr>
        <p:spPr>
          <a:xfrm>
            <a:off x="839788" y="3031958"/>
            <a:ext cx="5157787" cy="3114200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6" name="Marcador de contenido 5"/>
          <p:cNvSpPr>
            <a:spLocks noGrp="1"/>
          </p:cNvSpPr>
          <p:nvPr>
            <p:ph sz="quarter" idx="4"/>
          </p:nvPr>
        </p:nvSpPr>
        <p:spPr>
          <a:xfrm>
            <a:off x="6172200" y="2224725"/>
            <a:ext cx="5183188" cy="3921433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PE" dirty="0"/>
          </a:p>
        </p:txBody>
      </p:sp>
      <p:sp>
        <p:nvSpPr>
          <p:cNvPr id="7" name="Marcador de fech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8" name="Marcador de pie de página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Marcador de número de diapositiva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3559150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/>
          </a:p>
        </p:txBody>
      </p:sp>
      <p:sp>
        <p:nvSpPr>
          <p:cNvPr id="3" name="Marcador de fech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4" name="Marcador de pie de página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Marcador de número de diapositiva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8625605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3" name="Marcador de pie de página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58515799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ncabezado de sección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2900363"/>
            <a:ext cx="8336213" cy="1057275"/>
          </a:xfrm>
        </p:spPr>
        <p:txBody>
          <a:bodyPr anchor="ctr"/>
          <a:lstStyle>
            <a:lvl1pPr>
              <a:defRPr sz="4000">
                <a:solidFill>
                  <a:schemeClr val="bg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FB0538-05B5-4DE6-9B45-89FDCA8A00A6}" type="datetimeFigureOut">
              <a:rPr lang="es-PE" smtClean="0"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0FB786-48BF-4F93-AEF9-89E1BCF1BEEA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44007032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7_Custom Layout">
    <p:bg>
      <p:bgPr>
        <a:solidFill>
          <a:srgbClr val="2B2B2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A9C405-D21C-40E0-81DC-86AAE06A3E1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prstGeom prst="rect">
            <a:avLst/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2819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/>
          <p:cNvSpPr>
            <a:spLocks noGrp="1"/>
          </p:cNvSpPr>
          <p:nvPr>
            <p:ph type="title"/>
          </p:nvPr>
        </p:nvSpPr>
        <p:spPr>
          <a:xfrm>
            <a:off x="838200" y="543881"/>
            <a:ext cx="9410699" cy="637221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s-ES" dirty="0"/>
              <a:t>Haga clic para modificar el estilo de título del patrón</a:t>
            </a:r>
            <a:endParaRPr lang="es-PE" dirty="0"/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 dirty="0"/>
              <a:t>Editar el estilo de texto del patrón</a:t>
            </a:r>
          </a:p>
          <a:p>
            <a:pPr lvl="1"/>
            <a:r>
              <a:rPr lang="es-ES" dirty="0"/>
              <a:t>Segundo nivel</a:t>
            </a:r>
          </a:p>
          <a:p>
            <a:pPr lvl="2"/>
            <a:r>
              <a:rPr lang="es-ES" dirty="0"/>
              <a:t>Tercer nivel</a:t>
            </a:r>
          </a:p>
          <a:p>
            <a:pPr lvl="3"/>
            <a:r>
              <a:rPr lang="es-ES" dirty="0"/>
              <a:t>Cuarto nivel</a:t>
            </a:r>
          </a:p>
          <a:p>
            <a:pPr lvl="4"/>
            <a:r>
              <a:rPr lang="es-ES" dirty="0"/>
              <a:t>Quinto nivel</a:t>
            </a:r>
            <a:endParaRPr lang="es-PE" dirty="0"/>
          </a:p>
        </p:txBody>
      </p:sp>
      <p:sp>
        <p:nvSpPr>
          <p:cNvPr id="4" name="Marcador de fech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4CFB0538-05B5-4DE6-9B45-89FDCA8A00A6}" type="datetimeFigureOut">
              <a:rPr lang="es-PE" smtClean="0"/>
              <a:pPr/>
              <a:t>28/05/25</a:t>
            </a:fld>
            <a:endParaRPr lang="es-PE"/>
          </a:p>
        </p:txBody>
      </p:sp>
      <p:sp>
        <p:nvSpPr>
          <p:cNvPr id="5" name="Marcador de pie de página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endParaRPr lang="es-PE"/>
          </a:p>
        </p:txBody>
      </p:sp>
      <p:sp>
        <p:nvSpPr>
          <p:cNvPr id="6" name="Marcador de número de diapositiva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Muller Regular" pitchFamily="50" charset="0"/>
              </a:defRPr>
            </a:lvl1pPr>
          </a:lstStyle>
          <a:p>
            <a:fld id="{C50FB786-48BF-4F93-AEF9-89E1BCF1BEEA}" type="slidenum">
              <a:rPr lang="es-PE" smtClean="0"/>
              <a:pPr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2963644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7" r:id="rId2"/>
    <p:sldLayoutId id="2147483658" r:id="rId3"/>
    <p:sldLayoutId id="2147483659" r:id="rId4"/>
    <p:sldLayoutId id="2147483650" r:id="rId5"/>
    <p:sldLayoutId id="2147483652" r:id="rId6"/>
    <p:sldLayoutId id="2147483653" r:id="rId7"/>
    <p:sldLayoutId id="2147483656" r:id="rId8"/>
    <p:sldLayoutId id="2147483654" r:id="rId9"/>
    <p:sldLayoutId id="2147483655" r:id="rId10"/>
    <p:sldLayoutId id="2147483651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bg1"/>
          </a:solidFill>
          <a:latin typeface="Stag Light" panose="02000603060000020004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uller Regular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P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3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4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9.png"/><Relationship Id="rId4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0.png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5.pn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7.png"/><Relationship Id="rId4" Type="http://schemas.openxmlformats.org/officeDocument/2006/relationships/image" Target="../media/image36.pn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8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9.pn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0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1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3.pn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4.pn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dirty="0"/>
              <a:t>Cuatro momentos </a:t>
            </a:r>
            <a:endParaRPr lang="es-PE" dirty="0"/>
          </a:p>
        </p:txBody>
      </p:sp>
      <p:pic>
        <p:nvPicPr>
          <p:cNvPr id="5" name="Gráfico 38">
            <a:extLst>
              <a:ext uri="{FF2B5EF4-FFF2-40B4-BE49-F238E27FC236}">
                <a16:creationId xmlns:a16="http://schemas.microsoft.com/office/drawing/2014/main" id="{44A1BE57-CBDD-4F2A-B06F-13BCC3D5363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808724" y="4973456"/>
            <a:ext cx="771525" cy="129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0917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82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36922" y="5632047"/>
            <a:ext cx="536772" cy="896619"/>
          </a:xfrm>
          <a:prstGeom prst="rect">
            <a:avLst/>
          </a:prstGeom>
        </p:spPr>
      </p:pic>
      <p:grpSp>
        <p:nvGrpSpPr>
          <p:cNvPr id="30" name="Grupo 29">
            <a:extLst>
              <a:ext uri="{FF2B5EF4-FFF2-40B4-BE49-F238E27FC236}">
                <a16:creationId xmlns:a16="http://schemas.microsoft.com/office/drawing/2014/main" id="{70A560F7-42C4-43F8-A3C3-05EF27CD6C3A}"/>
              </a:ext>
            </a:extLst>
          </p:cNvPr>
          <p:cNvGrpSpPr/>
          <p:nvPr/>
        </p:nvGrpSpPr>
        <p:grpSpPr>
          <a:xfrm>
            <a:off x="665516" y="1181102"/>
            <a:ext cx="10860968" cy="4110457"/>
            <a:chOff x="940196" y="976812"/>
            <a:chExt cx="10860968" cy="4110457"/>
          </a:xfrm>
        </p:grpSpPr>
        <p:sp>
          <p:nvSpPr>
            <p:cNvPr id="20" name="CuadroTexto 19">
              <a:extLst>
                <a:ext uri="{FF2B5EF4-FFF2-40B4-BE49-F238E27FC236}">
                  <a16:creationId xmlns:a16="http://schemas.microsoft.com/office/drawing/2014/main" id="{0E1E547F-9519-4409-AA93-BF7CB95ED6DD}"/>
                </a:ext>
              </a:extLst>
            </p:cNvPr>
            <p:cNvSpPr txBox="1"/>
            <p:nvPr/>
          </p:nvSpPr>
          <p:spPr>
            <a:xfrm>
              <a:off x="940196" y="976812"/>
              <a:ext cx="244760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i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6" name="CuadroTexto 5">
              <a:extLst>
                <a:ext uri="{FF2B5EF4-FFF2-40B4-BE49-F238E27FC236}">
                  <a16:creationId xmlns:a16="http://schemas.microsoft.com/office/drawing/2014/main" id="{2621B773-4FB5-44C4-8FA6-ABD393F4A36A}"/>
                </a:ext>
              </a:extLst>
            </p:cNvPr>
            <p:cNvSpPr txBox="1"/>
            <p:nvPr/>
          </p:nvSpPr>
          <p:spPr>
            <a:xfrm>
              <a:off x="9292595" y="1053829"/>
              <a:ext cx="2508569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t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97AF91BD-1F8E-4E25-884C-933B95A66CBC}"/>
                </a:ext>
              </a:extLst>
            </p:cNvPr>
            <p:cNvSpPr txBox="1"/>
            <p:nvPr/>
          </p:nvSpPr>
          <p:spPr>
            <a:xfrm>
              <a:off x="6667326" y="1053829"/>
              <a:ext cx="2441415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a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C68FC3DB-8848-48DA-991E-EB5517F0A33F}"/>
                </a:ext>
              </a:extLst>
            </p:cNvPr>
            <p:cNvSpPr txBox="1"/>
            <p:nvPr/>
          </p:nvSpPr>
          <p:spPr>
            <a:xfrm>
              <a:off x="3624962" y="1053829"/>
              <a:ext cx="2436974" cy="37702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23900" dirty="0">
                  <a:solidFill>
                    <a:srgbClr val="652F8E"/>
                  </a:solidFill>
                  <a:latin typeface="Stag Medium" panose="02000603060000020004" pitchFamily="50" charset="0"/>
                </a:rPr>
                <a:t>d</a:t>
              </a:r>
              <a:endParaRPr lang="es-PE" sz="23900" dirty="0">
                <a:solidFill>
                  <a:srgbClr val="652F8E"/>
                </a:solidFill>
                <a:latin typeface="Stag Medium" panose="02000603060000020004" pitchFamily="50" charset="0"/>
              </a:endParaRPr>
            </a:p>
          </p:txBody>
        </p:sp>
        <p:sp>
          <p:nvSpPr>
            <p:cNvPr id="9" name="CuadroTexto 8">
              <a:extLst>
                <a:ext uri="{FF2B5EF4-FFF2-40B4-BE49-F238E27FC236}">
                  <a16:creationId xmlns:a16="http://schemas.microsoft.com/office/drawing/2014/main" id="{E3962F92-DFDD-4525-8768-BEEC4747A6B4}"/>
                </a:ext>
              </a:extLst>
            </p:cNvPr>
            <p:cNvSpPr txBox="1"/>
            <p:nvPr/>
          </p:nvSpPr>
          <p:spPr>
            <a:xfrm>
              <a:off x="1031302" y="4370417"/>
              <a:ext cx="219042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inicio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CB325B5B-9620-4DF4-9EB1-E55307F23191}"/>
                </a:ext>
              </a:extLst>
            </p:cNvPr>
            <p:cNvSpPr txBox="1"/>
            <p:nvPr/>
          </p:nvSpPr>
          <p:spPr>
            <a:xfrm>
              <a:off x="3209552" y="4370417"/>
              <a:ext cx="3302036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desarrollo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13" name="CuadroTexto 12">
              <a:extLst>
                <a:ext uri="{FF2B5EF4-FFF2-40B4-BE49-F238E27FC236}">
                  <a16:creationId xmlns:a16="http://schemas.microsoft.com/office/drawing/2014/main" id="{4098AA22-E352-480A-9ADB-DED263579889}"/>
                </a:ext>
              </a:extLst>
            </p:cNvPr>
            <p:cNvSpPr txBox="1"/>
            <p:nvPr/>
          </p:nvSpPr>
          <p:spPr>
            <a:xfrm>
              <a:off x="6573496" y="4362427"/>
              <a:ext cx="301240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aplicación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  <p:sp>
          <p:nvSpPr>
            <p:cNvPr id="29" name="CuadroTexto 28">
              <a:extLst>
                <a:ext uri="{FF2B5EF4-FFF2-40B4-BE49-F238E27FC236}">
                  <a16:creationId xmlns:a16="http://schemas.microsoft.com/office/drawing/2014/main" id="{26C88720-1E4E-4387-A59E-97EEB429A5D6}"/>
                </a:ext>
              </a:extLst>
            </p:cNvPr>
            <p:cNvSpPr txBox="1"/>
            <p:nvPr/>
          </p:nvSpPr>
          <p:spPr>
            <a:xfrm>
              <a:off x="9585904" y="4379383"/>
              <a:ext cx="2187790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ES" sz="4000" dirty="0">
                  <a:solidFill>
                    <a:srgbClr val="652F8E"/>
                  </a:solidFill>
                  <a:latin typeface="Stag Light" panose="02000603060000020004" pitchFamily="50" charset="0"/>
                </a:rPr>
                <a:t>término</a:t>
              </a:r>
              <a:endParaRPr lang="es-PE" sz="4000" dirty="0">
                <a:solidFill>
                  <a:srgbClr val="652F8E"/>
                </a:solidFill>
                <a:latin typeface="Stag Light" panose="02000603060000020004" pitchFamily="50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0899790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I</a:t>
            </a:r>
            <a:r>
              <a:rPr lang="es-PE" b="1" dirty="0" err="1">
                <a:solidFill>
                  <a:schemeClr val="bg1"/>
                </a:solidFill>
              </a:rPr>
              <a:t>nicio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28648" y="5486401"/>
            <a:ext cx="9003031" cy="1707016"/>
          </a:xfrm>
        </p:spPr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Construye</a:t>
            </a:r>
            <a:r>
              <a:rPr lang="en-US" dirty="0">
                <a:solidFill>
                  <a:schemeClr val="bg1"/>
                </a:solidFill>
              </a:rPr>
              <a:t> servicios web </a:t>
            </a:r>
            <a:r>
              <a:rPr lang="en-US" dirty="0" err="1">
                <a:solidFill>
                  <a:schemeClr val="bg1"/>
                </a:solidFill>
              </a:rPr>
              <a:t>utilizando</a:t>
            </a:r>
            <a:r>
              <a:rPr lang="en-US" dirty="0">
                <a:solidFill>
                  <a:schemeClr val="bg1"/>
                </a:solidFill>
              </a:rPr>
              <a:t> el </a:t>
            </a:r>
            <a:r>
              <a:rPr lang="en-US" dirty="0" err="1">
                <a:solidFill>
                  <a:schemeClr val="bg1"/>
                </a:solidFill>
              </a:rPr>
              <a:t>estilo</a:t>
            </a:r>
            <a:r>
              <a:rPr lang="en-US" dirty="0">
                <a:solidFill>
                  <a:schemeClr val="bg1"/>
                </a:solidFill>
              </a:rPr>
              <a:t> de </a:t>
            </a:r>
            <a:r>
              <a:rPr lang="en-US" dirty="0" err="1">
                <a:solidFill>
                  <a:schemeClr val="bg1"/>
                </a:solidFill>
              </a:rPr>
              <a:t>arquitectura</a:t>
            </a:r>
            <a:r>
              <a:rPr lang="en-US" dirty="0">
                <a:solidFill>
                  <a:schemeClr val="bg1"/>
                </a:solidFill>
              </a:rPr>
              <a:t> REST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2457" y="5383338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786711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Objetivo</a:t>
            </a:r>
            <a:r>
              <a:rPr lang="es-ES" sz="2800" dirty="0">
                <a:latin typeface="Stag Medium" panose="02000603060000020004" pitchFamily="50" charset="0"/>
              </a:rPr>
              <a:t>:</a:t>
            </a:r>
          </a:p>
          <a:p>
            <a:r>
              <a:rPr lang="es-ES" sz="2000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US" sz="1600" dirty="0"/>
              <a:t>Comprender la arquitectura REST y aplicar la construcción, consumo y prueba de servicios web RESTful utilizando herramientas como Spring Boot y Postman.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84669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 REST?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r>
              <a:rPr lang="es-US" sz="1200" dirty="0"/>
              <a:t>REST (Representational State Transfer) es un estilo de arquitectura utilizado para desarrollar servicios web simples, eficientes y escalables.</a:t>
            </a:r>
          </a:p>
          <a:p>
            <a:r>
              <a:rPr lang="es-US" sz="1200" dirty="0"/>
              <a:t>Fue diseñado pensando en la simplicidad, la rápida adopción y el uso de estándares como HTTP.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90037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9717" y="966019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Características</a:t>
            </a:r>
            <a:r>
              <a:rPr lang="en-US" sz="2800" dirty="0">
                <a:latin typeface="Stag Medium" panose="02000603060000020004" pitchFamily="50" charset="0"/>
              </a:rPr>
              <a:t> de REST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50" dirty="0"/>
              <a:t>Cliente / Servidor: separación total entre interfaz y almacenamiento.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50" dirty="0"/>
              <a:t>Sin estado: cada petición HTTP es independiente.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50" dirty="0"/>
              <a:t>Cacheable: las respuestas pueden almacenarse en caché.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050" dirty="0"/>
              <a:t>Basado en recursos: cada recurso se representa mediante una URI.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06FC1C9-E5D0-E499-585C-400AF41A04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96124" y="2147121"/>
            <a:ext cx="5726159" cy="471087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26F8E888-D43C-EDAE-6581-471D5356CDF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2404" y="4405269"/>
            <a:ext cx="5034764" cy="24527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550441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Qué</a:t>
            </a:r>
            <a:r>
              <a:rPr lang="en-US" sz="2800" dirty="0">
                <a:latin typeface="Stag Medium" panose="02000603060000020004" pitchFamily="50" charset="0"/>
              </a:rPr>
              <a:t> es un </a:t>
            </a:r>
            <a:r>
              <a:rPr lang="en-US" sz="2800" dirty="0" err="1">
                <a:latin typeface="Stag Medium" panose="02000603060000020004" pitchFamily="50" charset="0"/>
              </a:rPr>
              <a:t>recurso</a:t>
            </a:r>
            <a:r>
              <a:rPr lang="en-US" sz="2800" dirty="0">
                <a:latin typeface="Stag Medium" panose="02000603060000020004" pitchFamily="50" charset="0"/>
              </a:rPr>
              <a:t>?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r>
              <a:rPr lang="es-US" sz="1500" dirty="0"/>
              <a:t>Un recurso es cualquier entidad identificable, accesible mediante una URI, </a:t>
            </a:r>
            <a:endParaRPr lang="en-US" sz="1500" dirty="0"/>
          </a:p>
          <a:p>
            <a:r>
              <a:rPr lang="es-US" sz="1500" dirty="0"/>
              <a:t>que puede ser representada (generalmente en JSON) y manipulada usando métodos HTTP.</a:t>
            </a:r>
          </a:p>
          <a:p>
            <a:endParaRPr lang="es-US" sz="105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5132329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Buenas </a:t>
            </a:r>
            <a:r>
              <a:rPr lang="en-US" sz="2800" dirty="0" err="1">
                <a:latin typeface="Stag Medium" panose="02000603060000020004" pitchFamily="50" charset="0"/>
              </a:rPr>
              <a:t>practicas</a:t>
            </a:r>
            <a:r>
              <a:rPr lang="en-US" sz="2800" dirty="0">
                <a:latin typeface="Stag Medium" panose="02000603060000020004" pitchFamily="50" charset="0"/>
              </a:rPr>
              <a:t> REST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Usar códigos de estado HTTP adecuados (200, 201, 404, 500…).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Utilizar métodos HTTP según la operación (GET, POST, PUT, DELETE).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Definir el servicio para que devuelva lo solicitado.</a:t>
            </a:r>
            <a:endParaRPr lang="en-US" sz="15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Control de versiones (ej. /api/v1/productos).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Autenticación mediante tokens en encabezados.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Paginación para resultados extensos.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Devolver tipos de datos adecuados, no solo cadenas.</a:t>
            </a:r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655704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220976"/>
          </a:xfrm>
        </p:spPr>
        <p:txBody>
          <a:bodyPr>
            <a:normAutofit/>
          </a:bodyPr>
          <a:lstStyle/>
          <a:p>
            <a:r>
              <a:rPr lang="en-US" sz="2800" dirty="0">
                <a:latin typeface="Stag Medium" panose="02000603060000020004" pitchFamily="50" charset="0"/>
              </a:rPr>
              <a:t>Buenas </a:t>
            </a:r>
            <a:r>
              <a:rPr lang="en-US" sz="2800" dirty="0" err="1">
                <a:latin typeface="Stag Medium" panose="02000603060000020004" pitchFamily="50" charset="0"/>
              </a:rPr>
              <a:t>practicas</a:t>
            </a:r>
            <a:r>
              <a:rPr lang="en-US" sz="2800" dirty="0">
                <a:latin typeface="Stag Medium" panose="02000603060000020004" pitchFamily="50" charset="0"/>
              </a:rPr>
              <a:t> REST</a:t>
            </a:r>
            <a:endParaRPr lang="es-ES" sz="2800" dirty="0">
              <a:latin typeface="Stag Medium" panose="02000603060000020004" pitchFamily="50" charset="0"/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9A6EA8C2-6EDD-8BE2-7C8A-325F5D28559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205" y="3196487"/>
            <a:ext cx="6170492" cy="311763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AD3D0AA6-9D1F-70C1-B92C-7C2F208581E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46696" y="2813683"/>
            <a:ext cx="5845303" cy="36577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23123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5"/>
            <a:ext cx="6281691" cy="117461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Operaciones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básicas</a:t>
            </a:r>
            <a:r>
              <a:rPr lang="en-US" sz="2800" dirty="0">
                <a:latin typeface="Stag Medium" panose="02000603060000020004" pitchFamily="50" charset="0"/>
              </a:rPr>
              <a:t> REST</a:t>
            </a:r>
            <a:endParaRPr lang="es-ES" sz="2800" dirty="0">
              <a:latin typeface="Stag Medium" panose="02000603060000020004" pitchFamily="50" charset="0"/>
            </a:endParaRPr>
          </a:p>
          <a:p>
            <a:endParaRPr lang="en-US" sz="800" dirty="0"/>
          </a:p>
          <a:p>
            <a:endParaRPr lang="es-US" sz="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00404" y="342900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graphicFrame>
        <p:nvGraphicFramePr>
          <p:cNvPr id="8" name="Tabla 7">
            <a:extLst>
              <a:ext uri="{FF2B5EF4-FFF2-40B4-BE49-F238E27FC236}">
                <a16:creationId xmlns:a16="http://schemas.microsoft.com/office/drawing/2014/main" id="{62E8E7A9-5144-12BA-A4E3-6510C5C1A26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2460960"/>
              </p:ext>
            </p:extLst>
          </p:nvPr>
        </p:nvGraphicFramePr>
        <p:xfrm>
          <a:off x="727542" y="2994720"/>
          <a:ext cx="7781824" cy="331939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945456">
                  <a:extLst>
                    <a:ext uri="{9D8B030D-6E8A-4147-A177-3AD203B41FA5}">
                      <a16:colId xmlns:a16="http://schemas.microsoft.com/office/drawing/2014/main" val="3354561845"/>
                    </a:ext>
                  </a:extLst>
                </a:gridCol>
                <a:gridCol w="1945456">
                  <a:extLst>
                    <a:ext uri="{9D8B030D-6E8A-4147-A177-3AD203B41FA5}">
                      <a16:colId xmlns:a16="http://schemas.microsoft.com/office/drawing/2014/main" val="986761369"/>
                    </a:ext>
                  </a:extLst>
                </a:gridCol>
                <a:gridCol w="1945456">
                  <a:extLst>
                    <a:ext uri="{9D8B030D-6E8A-4147-A177-3AD203B41FA5}">
                      <a16:colId xmlns:a16="http://schemas.microsoft.com/office/drawing/2014/main" val="407019688"/>
                    </a:ext>
                  </a:extLst>
                </a:gridCol>
                <a:gridCol w="1945456">
                  <a:extLst>
                    <a:ext uri="{9D8B030D-6E8A-4147-A177-3AD203B41FA5}">
                      <a16:colId xmlns:a16="http://schemas.microsoft.com/office/drawing/2014/main" val="1220913120"/>
                    </a:ext>
                  </a:extLst>
                </a:gridCol>
              </a:tblGrid>
              <a:tr h="379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Operación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Método HTTP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URI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Resultado esperado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00784490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Listar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/{recurso}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Lista de elementos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52048273"/>
                  </a:ext>
                </a:extLst>
              </a:tr>
              <a:tr h="5421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Crear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POST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/{recurso}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Nuevo elemento creado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39617715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Leer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GET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/{recurso}/{id}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 dirty="0"/>
                        <a:t>Un recurso específico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312939725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Actualizar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PUT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/{recurso}/{id}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Recurso actualizado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18026544"/>
                  </a:ext>
                </a:extLst>
              </a:tr>
              <a:tr h="37953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Eliminar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DELETE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/>
                        <a:t>/{recurso}/{id}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s-US" dirty="0"/>
                        <a:t>Recurso eliminado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99847580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281135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uso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métodos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GET /api/paises → Lista todos los países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GET /api/paises/3 → Muestra país con ID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POST /api/paises → Crea nuevo país (en JSON)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PUT /api/paises/3 → Actualiza país con ID 3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DELETE /api/paises/3 → Elimina país con ID 3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546FC9-576A-652D-A0B2-AB48414CF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5770" y="3771440"/>
            <a:ext cx="6526513" cy="25426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14053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51705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uso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métodos</a:t>
            </a:r>
            <a:r>
              <a:rPr lang="en-US" sz="2800" dirty="0">
                <a:latin typeface="Stag Medium" panose="02000603060000020004" pitchFamily="50" charset="0"/>
              </a:rPr>
              <a:t>: GET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E546FC9-576A-652D-A0B2-AB48414CF0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5000" y="3517742"/>
            <a:ext cx="7745441" cy="3017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457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51705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uso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métodos</a:t>
            </a:r>
            <a:r>
              <a:rPr lang="en-US" sz="2800" dirty="0">
                <a:latin typeface="Stag Medium" panose="02000603060000020004" pitchFamily="50" charset="0"/>
              </a:rPr>
              <a:t>: POST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19D5551-7A0A-6C78-8FDE-584566FD7C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15877" y="3338795"/>
            <a:ext cx="7231434" cy="31743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3269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51705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uso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métodos</a:t>
            </a:r>
            <a:r>
              <a:rPr lang="en-US" sz="2800" dirty="0">
                <a:latin typeface="Stag Medium" panose="02000603060000020004" pitchFamily="50" charset="0"/>
              </a:rPr>
              <a:t>: PUT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6DC530E0-F972-9416-6C09-1814FF179A5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222" y="3136395"/>
            <a:ext cx="8399556" cy="37216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8907838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1517056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Ejemplo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uso</a:t>
            </a:r>
            <a:r>
              <a:rPr lang="en-US" sz="2800" dirty="0">
                <a:latin typeface="Stag Medium" panose="02000603060000020004" pitchFamily="50" charset="0"/>
              </a:rPr>
              <a:t> de </a:t>
            </a:r>
            <a:r>
              <a:rPr lang="en-US" sz="2800" dirty="0" err="1">
                <a:latin typeface="Stag Medium" panose="02000603060000020004" pitchFamily="50" charset="0"/>
              </a:rPr>
              <a:t>métodos</a:t>
            </a:r>
            <a:r>
              <a:rPr lang="en-US" sz="2800" dirty="0">
                <a:latin typeface="Stag Medium" panose="02000603060000020004" pitchFamily="50" charset="0"/>
              </a:rPr>
              <a:t>: DELETE</a:t>
            </a:r>
            <a:endParaRPr lang="es-ES" sz="2800" dirty="0">
              <a:latin typeface="Stag Medium" panose="02000603060000020004" pitchFamily="50" charset="0"/>
            </a:endParaRPr>
          </a:p>
          <a:p>
            <a:r>
              <a:rPr lang="es-ES" sz="2000" dirty="0"/>
              <a:t> 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E70D8541-6CAE-6237-1AAE-45D2FE4D94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4021" y="3012912"/>
            <a:ext cx="8630706" cy="38450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786803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Formatos</a:t>
            </a:r>
            <a:r>
              <a:rPr lang="en-US" sz="2800" dirty="0">
                <a:latin typeface="Stag Medium" panose="02000603060000020004" pitchFamily="50" charset="0"/>
              </a:rPr>
              <a:t> en servicios REST</a:t>
            </a:r>
          </a:p>
          <a:p>
            <a:endParaRPr lang="es-ES" sz="20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El formato principal es JSON, aunque también puede usarse XML, texto plano, HTML o bytes.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JSON es ligero, legible por humanos, e ideal para servicios RESTful.</a:t>
            </a:r>
          </a:p>
          <a:p>
            <a:endParaRPr lang="es-US" sz="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3873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Estructura</a:t>
            </a:r>
            <a:r>
              <a:rPr lang="en-US" sz="2800" dirty="0">
                <a:latin typeface="Stag Medium" panose="02000603060000020004" pitchFamily="50" charset="0"/>
              </a:rPr>
              <a:t> de un JSON</a:t>
            </a:r>
          </a:p>
          <a:p>
            <a:endParaRPr lang="en-US" sz="800" dirty="0"/>
          </a:p>
          <a:p>
            <a:r>
              <a:rPr lang="es-US" sz="1500" dirty="0"/>
              <a:t>Usa llaves {} para objetos.</a:t>
            </a:r>
          </a:p>
          <a:p>
            <a:r>
              <a:rPr lang="es-US" sz="1500" dirty="0"/>
              <a:t>Usa corchetes [] para listas.</a:t>
            </a:r>
          </a:p>
          <a:p>
            <a:r>
              <a:rPr lang="es-US" sz="1500" dirty="0"/>
              <a:t>Clave – valor como pares de datos.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959CEBC-EAB1-6E70-44A2-FFB49E5678C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599" y="3158066"/>
            <a:ext cx="6069607" cy="24900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5630376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Estructura</a:t>
            </a:r>
            <a:r>
              <a:rPr lang="en-US" sz="2800" dirty="0">
                <a:latin typeface="Stag Medium" panose="02000603060000020004" pitchFamily="50" charset="0"/>
              </a:rPr>
              <a:t> de un JSON</a:t>
            </a:r>
          </a:p>
          <a:p>
            <a:endParaRPr lang="en-US" sz="800" dirty="0"/>
          </a:p>
          <a:p>
            <a:r>
              <a:rPr lang="es-US" sz="1500" dirty="0"/>
              <a:t>{  "id": 1,  "nombre": "Perú",  "capital": "Lima",  </a:t>
            </a:r>
            <a:endParaRPr lang="en-US" sz="1500" dirty="0"/>
          </a:p>
          <a:p>
            <a:r>
              <a:rPr lang="es-US" sz="1500" dirty="0"/>
              <a:t>"poblacion": 33000000}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FE99CAE7-F493-B577-7A0D-5E345E3FC2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35600" y="3158066"/>
            <a:ext cx="6232534" cy="2556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901638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Desarrollo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 err="1">
                <a:solidFill>
                  <a:schemeClr val="bg1"/>
                </a:solidFill>
              </a:rPr>
              <a:t>Creación</a:t>
            </a:r>
            <a:r>
              <a:rPr lang="en-US" dirty="0">
                <a:solidFill>
                  <a:schemeClr val="bg1"/>
                </a:solidFill>
              </a:rPr>
              <a:t> y </a:t>
            </a:r>
            <a:r>
              <a:rPr lang="en-US" dirty="0" err="1">
                <a:solidFill>
                  <a:schemeClr val="bg1"/>
                </a:solidFill>
              </a:rPr>
              <a:t>consumo</a:t>
            </a:r>
            <a:r>
              <a:rPr lang="en-US" dirty="0">
                <a:solidFill>
                  <a:schemeClr val="bg1"/>
                </a:solidFill>
              </a:rPr>
              <a:t> de servicios web REST</a:t>
            </a:r>
            <a:endParaRPr lang="es-PE" dirty="0">
              <a:solidFill>
                <a:schemeClr val="bg1"/>
              </a:solidFill>
            </a:endParaRP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203499" y="521050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604922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Herramientas</a:t>
            </a:r>
            <a:r>
              <a:rPr lang="en-US" sz="2800" dirty="0">
                <a:latin typeface="Stag Medium" panose="02000603060000020004" pitchFamily="50" charset="0"/>
              </a:rPr>
              <a:t> para </a:t>
            </a:r>
            <a:r>
              <a:rPr lang="en-US" sz="2800" dirty="0" err="1">
                <a:latin typeface="Stag Medium" panose="02000603060000020004" pitchFamily="50" charset="0"/>
              </a:rPr>
              <a:t>construir</a:t>
            </a:r>
            <a:r>
              <a:rPr lang="en-US" sz="2800" dirty="0">
                <a:latin typeface="Stag Medium" panose="02000603060000020004" pitchFamily="50" charset="0"/>
              </a:rPr>
              <a:t> servicios 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Spring Tool Suite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Java 8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Maven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Spring Web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Postman (para pruebas)</a:t>
            </a:r>
          </a:p>
          <a:p>
            <a:endParaRPr lang="es-US" sz="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993426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Web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70560455-A761-93A6-F48D-4E6C71ED3C1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96337" y="3989628"/>
            <a:ext cx="6025946" cy="1290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947529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Web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8B1FE519-B7FA-6A56-445F-EFE420773BE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36652" y="2117440"/>
            <a:ext cx="5263543" cy="4740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7820062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Web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479364B-713A-6714-367F-F9FEA506DE9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06511" y="2449750"/>
            <a:ext cx="5479037" cy="3365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677478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5054705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en Spring Boot</a:t>
            </a:r>
          </a:p>
          <a:p>
            <a:pPr marL="228600" indent="-228600">
              <a:buFont typeface="+mj-lt"/>
              <a:buAutoNum type="arabicPeriod"/>
            </a:pPr>
            <a:endParaRPr lang="en-US" sz="1500" dirty="0"/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File &gt; New &gt; Spring Starter Project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Nombre del proyecto: restws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Agregar dependencia: Spring Web</a:t>
            </a:r>
          </a:p>
          <a:p>
            <a:pPr marL="228600" indent="-228600">
              <a:buFont typeface="+mj-lt"/>
              <a:buAutoNum type="arabicPeriod"/>
            </a:pPr>
            <a:r>
              <a:rPr lang="es-US" sz="1500" dirty="0"/>
              <a:t>Finalizar configuración y verificar el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1098106C-4A5E-D45A-7BD5-5DAD7BE2175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2829196"/>
            <a:ext cx="6640721" cy="3807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3132757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Clase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modelo</a:t>
            </a:r>
            <a:r>
              <a:rPr lang="en-US" sz="2800" dirty="0">
                <a:latin typeface="Stag Medium" panose="02000603060000020004" pitchFamily="50" charset="0"/>
              </a:rPr>
              <a:t> Pais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r>
              <a:rPr lang="es-US" sz="1500" dirty="0"/>
              <a:t>public class Pais {  private int id;  private String nombre;  private String capital;  private int poblacion;  </a:t>
            </a:r>
            <a:endParaRPr lang="en-US" sz="1500" dirty="0"/>
          </a:p>
          <a:p>
            <a:r>
              <a:rPr lang="es-US" sz="1500" dirty="0"/>
              <a:t>private String region;  // Constructores, getters, setters}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CD1442F5-0A5E-8571-E42A-C8F62F7D63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22237" y="1932040"/>
            <a:ext cx="3572237" cy="4753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28652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9717" y="1266446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el </a:t>
            </a:r>
            <a:r>
              <a:rPr lang="en-US" sz="2800" dirty="0" err="1">
                <a:latin typeface="Stag Medium" panose="02000603060000020004" pitchFamily="50" charset="0"/>
              </a:rPr>
              <a:t>controlador</a:t>
            </a:r>
            <a:r>
              <a:rPr lang="en-US" sz="2800" dirty="0">
                <a:latin typeface="Stag Medium" panose="02000603060000020004" pitchFamily="50" charset="0"/>
              </a:rPr>
              <a:t> REST</a:t>
            </a: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r>
              <a:rPr lang="es-US" sz="1500" dirty="0"/>
              <a:t>Clase PaisController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Anotación @RestController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Ruta base: /api/paises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Métodos HTTP: @GetMapping, @PostMapping, @PutMapping, @DeleteMapping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Inicializa con 3 países simulados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7DB5F98B-9177-C86A-8990-EDC7577C10A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44962" y="3959940"/>
            <a:ext cx="7331056" cy="26326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1972047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2FB032A-C5E6-5B20-6663-E2C1F6D2AB7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" y="1973895"/>
            <a:ext cx="5877712" cy="4925960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433F56EB-1A8C-75E6-F1C6-0A67C9A151A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74138" y="2011946"/>
            <a:ext cx="6717862" cy="48879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812574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Ejecutar</a:t>
            </a:r>
            <a:r>
              <a:rPr lang="en-US" sz="2800" dirty="0">
                <a:latin typeface="Stag Medium" panose="02000603060000020004" pitchFamily="50" charset="0"/>
              </a:rPr>
              <a:t> y </a:t>
            </a:r>
            <a:r>
              <a:rPr lang="en-US" sz="2800" dirty="0" err="1">
                <a:latin typeface="Stag Medium" panose="02000603060000020004" pitchFamily="50" charset="0"/>
              </a:rPr>
              <a:t>probar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servicio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r>
              <a:rPr lang="es-US" sz="1500" dirty="0"/>
              <a:t>Peticiones recomendadas: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GET http://localhost:8093/restws/api/paises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GET http://localhost:8093/restws/api/paises/2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POST, PUT, DELETE según casos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9771E86D-5861-8D4D-6A01-B7702D22410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7413" y="3876206"/>
            <a:ext cx="6644870" cy="2760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951678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9717" y="1250076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proyecto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Cliente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r>
              <a:rPr lang="es-US" sz="1500" dirty="0"/>
              <a:t>Pasos: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File &gt; New &gt; Spring Starter Project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Nombre del proyecto: restcliente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Agregar dependencia: Spring Web Services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Finalizar y verificar proyecto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DF6335D3-4409-85D3-4A13-6E1CD4A7A2B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9717" y="4710571"/>
            <a:ext cx="5457971" cy="1198478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1DDEC1AF-2DC0-5B22-808F-2CBEA04C51D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1408" y="2001015"/>
            <a:ext cx="3434428" cy="45588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81595863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6026394" y="2475922"/>
            <a:ext cx="4974895" cy="4083749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clase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RestCliente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Definir URL del servicio 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Usar RestTemplate o WebClient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método callGetAllPaisesAPI() para listar todos los países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BC9182FB-A07D-6039-A55C-5772CF356B5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7231" y="2475922"/>
            <a:ext cx="5768769" cy="32576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60046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7860" y="2230369"/>
            <a:ext cx="4974895" cy="4083749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clase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RestCliente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Definir URL del servicio 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Usar RestTemplate o WebClient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método callGetAllPaisesAPI() para listar todos los países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8" name="Imagen 7">
            <a:extLst>
              <a:ext uri="{FF2B5EF4-FFF2-40B4-BE49-F238E27FC236}">
                <a16:creationId xmlns:a16="http://schemas.microsoft.com/office/drawing/2014/main" id="{CEFA5A4F-949E-E494-F10A-3A4D8EF635F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00651" y="2475923"/>
            <a:ext cx="5488724" cy="38643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00019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7860" y="2230369"/>
            <a:ext cx="4974895" cy="4083749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clase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RestCliente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Definir URL del servicio 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Usar RestTemplate o WebClient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método callGetAllPaisesAPI() para listar todos los países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08A13F1B-3DE9-01A5-FD96-10364E966DC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2230369"/>
            <a:ext cx="6186064" cy="44594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5366189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569717" y="1181102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Probar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métodos</a:t>
            </a:r>
            <a:r>
              <a:rPr lang="en-US" sz="2800" dirty="0">
                <a:latin typeface="Stag Medium" panose="02000603060000020004" pitchFamily="50" charset="0"/>
              </a:rPr>
              <a:t> en </a:t>
            </a:r>
            <a:r>
              <a:rPr lang="en-US" sz="2800" dirty="0" err="1">
                <a:latin typeface="Stag Medium" panose="02000603060000020004" pitchFamily="50" charset="0"/>
              </a:rPr>
              <a:t>consola</a:t>
            </a:r>
            <a:endParaRPr lang="en-US" sz="2800" dirty="0">
              <a:latin typeface="Stag Medium" panose="02000603060000020004" pitchFamily="50" charset="0"/>
            </a:endParaRPr>
          </a:p>
          <a:p>
            <a:pPr marL="228600" indent="-228600">
              <a:buFont typeface="+mj-lt"/>
              <a:buAutoNum type="arabicPeriod"/>
            </a:pPr>
            <a:endParaRPr lang="en-US" sz="15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Ejecutar clase como JavaApplication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Verificar resultado de callGetAllPaisesAPI()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método callGetPaisByIdAPI(int id)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Ejecutar y verificar datos específicos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10" name="Imagen 9">
            <a:extLst>
              <a:ext uri="{FF2B5EF4-FFF2-40B4-BE49-F238E27FC236}">
                <a16:creationId xmlns:a16="http://schemas.microsoft.com/office/drawing/2014/main" id="{72FF0B1F-BFA7-D985-D6C3-F9F9FD822BE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31874" y="2362204"/>
            <a:ext cx="6828741" cy="4495796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9A98AA6C-004B-AA4F-5B20-CDE0F7FF916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5" y="5462881"/>
            <a:ext cx="5300489" cy="10852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82855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Introducción</a:t>
            </a:r>
            <a:r>
              <a:rPr lang="en-US" sz="2800" dirty="0">
                <a:latin typeface="Stag Medium" panose="02000603060000020004" pitchFamily="50" charset="0"/>
              </a:rPr>
              <a:t> a Postman</a:t>
            </a:r>
          </a:p>
          <a:p>
            <a:endParaRPr lang="en-US" sz="800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Herramienta para probar APIs REST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Permite configurar métodos, cabeceras, cuerpo de la petición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Ideal para validar comportamiento del servicio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7353EA9-ECC5-8162-C797-51E703FE9E3D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76191" y="3191933"/>
            <a:ext cx="6741825" cy="24228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2417189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r>
              <a:rPr lang="en-US" sz="2800" dirty="0">
                <a:latin typeface="Stag Medium" panose="02000603060000020004" pitchFamily="50" charset="0"/>
              </a:rPr>
              <a:t> GET y GET por ID</a:t>
            </a:r>
          </a:p>
          <a:p>
            <a:endParaRPr lang="en-US" sz="800" dirty="0"/>
          </a:p>
          <a:p>
            <a:r>
              <a:rPr lang="es-US" sz="1500" dirty="0"/>
              <a:t>Pasos en Postman: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nueva solicitud (Request)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Método: GET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URL: http://localhost:8093/restws/api/paises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Para obtener un país por ID: agregar /2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32CF8DEB-A131-08C4-C9C9-9EA3FDEDB08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2041741"/>
            <a:ext cx="4704556" cy="48043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069243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r>
              <a:rPr lang="en-US" sz="2800" dirty="0">
                <a:latin typeface="Stag Medium" panose="02000603060000020004" pitchFamily="50" charset="0"/>
              </a:rPr>
              <a:t> GET y GET por ID</a:t>
            </a:r>
          </a:p>
          <a:p>
            <a:endParaRPr lang="en-US" sz="800" dirty="0"/>
          </a:p>
          <a:p>
            <a:r>
              <a:rPr lang="es-US" sz="1500" dirty="0"/>
              <a:t>Pasos en Postman: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nueva solicitud (Request)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Método: GET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URL: http://localhost:8093/restws/api/paises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Para obtener un país por ID: agregar /2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E609906-11BA-5342-CD10-6502066541D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42755" y="1932040"/>
            <a:ext cx="6237084" cy="4925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353429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r>
              <a:rPr lang="en-US" sz="2800" dirty="0">
                <a:latin typeface="Stag Medium" panose="02000603060000020004" pitchFamily="50" charset="0"/>
              </a:rPr>
              <a:t> GET y GET por ID</a:t>
            </a:r>
          </a:p>
          <a:p>
            <a:endParaRPr lang="en-US" sz="800" dirty="0"/>
          </a:p>
          <a:p>
            <a:r>
              <a:rPr lang="es-US" sz="1500" dirty="0"/>
              <a:t>Pasos en Postman: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nueva solicitud (Request)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Método: GET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URL: http://localhost:8093/restws/api/paises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Para obtener un país por ID: agregar /2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B2E0FA38-F894-EDA0-743F-1BFF67A3833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62134" y="2254384"/>
            <a:ext cx="6829866" cy="37960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51572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r>
              <a:rPr lang="en-US" sz="2800" dirty="0">
                <a:latin typeface="Stag Medium" panose="02000603060000020004" pitchFamily="50" charset="0"/>
              </a:rPr>
              <a:t> POST (</a:t>
            </a:r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país</a:t>
            </a:r>
            <a:r>
              <a:rPr lang="en-US" sz="2800" dirty="0">
                <a:latin typeface="Stag Medium" panose="02000603060000020004" pitchFamily="50" charset="0"/>
              </a:rPr>
              <a:t>)</a:t>
            </a:r>
          </a:p>
          <a:p>
            <a:endParaRPr lang="en-US" sz="800" dirty="0"/>
          </a:p>
          <a:p>
            <a:r>
              <a:rPr lang="es-US" sz="1500" dirty="0"/>
              <a:t>Seleccionar método POST</a:t>
            </a:r>
          </a:p>
          <a:p>
            <a:r>
              <a:rPr lang="es-US" sz="1500" dirty="0"/>
              <a:t>Sección Body → raw, formato JSON</a:t>
            </a:r>
          </a:p>
          <a:p>
            <a:r>
              <a:rPr lang="es-US" sz="1500" dirty="0"/>
              <a:t>Ejemplo:</a:t>
            </a:r>
          </a:p>
          <a:p>
            <a:r>
              <a:rPr lang="es-US" sz="1500" dirty="0"/>
              <a:t>{  "id": 5,  "nombre": "Chile",  "capital": "Santiago",  "poblacion": 19000000}</a:t>
            </a:r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5383FC-1748-4E92-FE2D-611C143B59F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061850" y="2449750"/>
            <a:ext cx="4610731" cy="33989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904852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r>
              <a:rPr lang="en-US" sz="2800" dirty="0">
                <a:latin typeface="Stag Medium" panose="02000603060000020004" pitchFamily="50" charset="0"/>
              </a:rPr>
              <a:t> PUT (</a:t>
            </a:r>
            <a:r>
              <a:rPr lang="en-US" sz="2800" dirty="0" err="1">
                <a:latin typeface="Stag Medium" panose="02000603060000020004" pitchFamily="50" charset="0"/>
              </a:rPr>
              <a:t>actualizar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país</a:t>
            </a:r>
            <a:r>
              <a:rPr lang="en-US" sz="2800" dirty="0">
                <a:latin typeface="Stag Medium" panose="02000603060000020004" pitchFamily="50" charset="0"/>
              </a:rPr>
              <a:t>)</a:t>
            </a:r>
          </a:p>
          <a:p>
            <a:endParaRPr lang="en-US" sz="800" dirty="0"/>
          </a:p>
          <a:p>
            <a:r>
              <a:rPr lang="es-US" sz="1500" dirty="0"/>
              <a:t>Método: PUT</a:t>
            </a:r>
          </a:p>
          <a:p>
            <a:r>
              <a:rPr lang="es-US" sz="1500" dirty="0"/>
              <a:t>URL: http://localhost:8093/restws/api/paises/1</a:t>
            </a:r>
          </a:p>
          <a:p>
            <a:r>
              <a:rPr lang="es-US" sz="1500" dirty="0"/>
              <a:t>Body con JSON actualizado</a:t>
            </a:r>
          </a:p>
          <a:p>
            <a:r>
              <a:rPr lang="es-US" sz="1500" dirty="0"/>
              <a:t>Verifica código 200 OK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AAFFEF8C-49CA-F374-D3FF-0B5FD778EA90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603" y="2483723"/>
            <a:ext cx="5956680" cy="38565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854080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Prueba</a:t>
            </a:r>
            <a:r>
              <a:rPr lang="en-US" sz="2800" dirty="0">
                <a:latin typeface="Stag Medium" panose="02000603060000020004" pitchFamily="50" charset="0"/>
              </a:rPr>
              <a:t> DELETE (</a:t>
            </a:r>
            <a:r>
              <a:rPr lang="en-US" sz="2800" dirty="0" err="1">
                <a:latin typeface="Stag Medium" panose="02000603060000020004" pitchFamily="50" charset="0"/>
              </a:rPr>
              <a:t>eliminar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país</a:t>
            </a:r>
            <a:r>
              <a:rPr lang="en-US" sz="2800" dirty="0">
                <a:latin typeface="Stag Medium" panose="02000603060000020004" pitchFamily="50" charset="0"/>
              </a:rPr>
              <a:t>)</a:t>
            </a:r>
          </a:p>
          <a:p>
            <a:endParaRPr lang="en-US" sz="800" dirty="0"/>
          </a:p>
          <a:p>
            <a:r>
              <a:rPr lang="es-US" sz="1500" dirty="0"/>
              <a:t>Método: DELETE</a:t>
            </a:r>
          </a:p>
          <a:p>
            <a:r>
              <a:rPr lang="es-US" sz="1500" dirty="0"/>
              <a:t>URL: http://localhost:8093/restws/api/paises/1</a:t>
            </a:r>
          </a:p>
          <a:p>
            <a:r>
              <a:rPr lang="es-US" sz="1500" dirty="0"/>
              <a:t>Sin cuerpo</a:t>
            </a:r>
          </a:p>
          <a:p>
            <a:r>
              <a:rPr lang="es-US" sz="1500" dirty="0"/>
              <a:t>Código esperado: 204 No Content</a:t>
            </a:r>
          </a:p>
          <a:p>
            <a:endParaRPr lang="es-US" sz="800" dirty="0"/>
          </a:p>
        </p:txBody>
      </p:sp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  <p:pic>
        <p:nvPicPr>
          <p:cNvPr id="7" name="Imagen 6">
            <a:extLst>
              <a:ext uri="{FF2B5EF4-FFF2-40B4-BE49-F238E27FC236}">
                <a16:creationId xmlns:a16="http://schemas.microsoft.com/office/drawing/2014/main" id="{1CA6DC1B-0B2D-DEDC-AC18-A3C878A747F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5999" y="2254384"/>
            <a:ext cx="6013225" cy="4085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3786765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Actividad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Desarrollar actividad de aprendizaje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18857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12603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r>
              <a:rPr lang="en-US" sz="2800" dirty="0">
                <a:latin typeface="Stag Medium" panose="02000603060000020004" pitchFamily="50" charset="0"/>
              </a:rPr>
              <a:t> 1: </a:t>
            </a:r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servicio</a:t>
            </a:r>
            <a:r>
              <a:rPr lang="en-US" sz="2800" dirty="0">
                <a:latin typeface="Stag Medium" panose="02000603060000020004" pitchFamily="50" charset="0"/>
              </a:rPr>
              <a:t> REST</a:t>
            </a:r>
          </a:p>
          <a:p>
            <a:endParaRPr lang="en-US" sz="800" dirty="0"/>
          </a:p>
          <a:p>
            <a:r>
              <a:rPr lang="es-US" sz="1500" dirty="0"/>
              <a:t>Instrucciones: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Crear una app con CRUD completo sobre una entidad con 5 campos (ej. Producto, Estudiante, Libro, etc.)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Incluir ID como identificador único</a:t>
            </a:r>
          </a:p>
          <a:p>
            <a:endParaRPr lang="es-US" sz="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917850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r>
              <a:rPr lang="en-US" sz="2800" dirty="0">
                <a:latin typeface="Stag Medium" panose="02000603060000020004" pitchFamily="50" charset="0"/>
              </a:rPr>
              <a:t> 2: </a:t>
            </a:r>
            <a:r>
              <a:rPr lang="en-US" sz="2800" dirty="0" err="1">
                <a:latin typeface="Stag Medium" panose="02000603060000020004" pitchFamily="50" charset="0"/>
              </a:rPr>
              <a:t>Crear</a:t>
            </a:r>
            <a:r>
              <a:rPr lang="en-US" sz="2800" dirty="0">
                <a:latin typeface="Stag Medium" panose="02000603060000020004" pitchFamily="50" charset="0"/>
              </a:rPr>
              <a:t> </a:t>
            </a:r>
            <a:r>
              <a:rPr lang="en-US" sz="2800" dirty="0" err="1">
                <a:latin typeface="Stag Medium" panose="02000603060000020004" pitchFamily="50" charset="0"/>
              </a:rPr>
              <a:t>cliente</a:t>
            </a:r>
            <a:r>
              <a:rPr lang="en-US" sz="2800" dirty="0">
                <a:latin typeface="Stag Medium" panose="02000603060000020004" pitchFamily="50" charset="0"/>
              </a:rPr>
              <a:t> REST</a:t>
            </a:r>
          </a:p>
          <a:p>
            <a:endParaRPr lang="en-US" sz="800" dirty="0"/>
          </a:p>
          <a:p>
            <a:r>
              <a:rPr lang="es-US" sz="1500" dirty="0"/>
              <a:t>Instrucciones: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Aplicación Java que consuma el servicio creado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Usar RestTemplate o WebClient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Implementar consumo de todos los métodos (GET, POST, PUT, DELETE)</a:t>
            </a:r>
          </a:p>
          <a:p>
            <a:endParaRPr lang="es-US" sz="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533198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ángulo 3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Inicio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740546" y="2254384"/>
            <a:ext cx="6281691" cy="4059734"/>
          </a:xfrm>
        </p:spPr>
        <p:txBody>
          <a:bodyPr>
            <a:normAutofit/>
          </a:bodyPr>
          <a:lstStyle/>
          <a:p>
            <a:r>
              <a:rPr lang="en-US" sz="2800" dirty="0" err="1">
                <a:latin typeface="Stag Medium" panose="02000603060000020004" pitchFamily="50" charset="0"/>
              </a:rPr>
              <a:t>Actividad</a:t>
            </a:r>
            <a:r>
              <a:rPr lang="en-US" sz="2800" dirty="0">
                <a:latin typeface="Stag Medium" panose="02000603060000020004" pitchFamily="50" charset="0"/>
              </a:rPr>
              <a:t> 3: </a:t>
            </a:r>
            <a:r>
              <a:rPr lang="en-US" sz="2800" dirty="0" err="1">
                <a:latin typeface="Stag Medium" panose="02000603060000020004" pitchFamily="50" charset="0"/>
              </a:rPr>
              <a:t>Pruebas</a:t>
            </a:r>
            <a:r>
              <a:rPr lang="en-US" sz="2800" dirty="0">
                <a:latin typeface="Stag Medium" panose="02000603060000020004" pitchFamily="50" charset="0"/>
              </a:rPr>
              <a:t> reales</a:t>
            </a:r>
          </a:p>
          <a:p>
            <a:endParaRPr lang="en-US" sz="800" dirty="0"/>
          </a:p>
          <a:p>
            <a:r>
              <a:rPr lang="es-US" sz="1500" dirty="0"/>
              <a:t>Instrucciones: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Usar Postman para probar 2 servicios REST públicos con datos reales (ej. Transantiago)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es-US" sz="1500" dirty="0"/>
              <a:t>Analizar el contenido devuelto (estructura JSON, campos útiles, etc.)</a:t>
            </a:r>
          </a:p>
          <a:p>
            <a:endParaRPr lang="es-US" sz="8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DA83EB5C-5337-44B7-93F4-AB836C4099A6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475967" y="3475360"/>
            <a:ext cx="2085107" cy="2085107"/>
          </a:xfrm>
          <a:prstGeom prst="rect">
            <a:avLst/>
          </a:prstGeom>
        </p:spPr>
      </p:pic>
      <p:pic>
        <p:nvPicPr>
          <p:cNvPr id="6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085511" y="517710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27860259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ítulo 5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ES" b="1" dirty="0">
                <a:solidFill>
                  <a:schemeClr val="bg1"/>
                </a:solidFill>
              </a:rPr>
              <a:t>Término</a:t>
            </a:r>
            <a:endParaRPr lang="es-PE" dirty="0">
              <a:solidFill>
                <a:schemeClr val="bg1"/>
              </a:solidFill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5F0E459-E21D-4EE9-9DD3-E1F42CA6AEEE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PE" dirty="0"/>
              <a:t>Indicaciones generales </a:t>
            </a:r>
          </a:p>
        </p:txBody>
      </p:sp>
      <p:pic>
        <p:nvPicPr>
          <p:cNvPr id="4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2380" y="5107866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3672991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ángulo 5"/>
          <p:cNvSpPr/>
          <p:nvPr/>
        </p:nvSpPr>
        <p:spPr>
          <a:xfrm>
            <a:off x="0" y="0"/>
            <a:ext cx="12192000" cy="1932040"/>
          </a:xfrm>
          <a:prstGeom prst="rect">
            <a:avLst/>
          </a:prstGeom>
          <a:solidFill>
            <a:srgbClr val="FFC82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/>
          </a:p>
        </p:txBody>
      </p:sp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>
                <a:solidFill>
                  <a:schemeClr val="tx1"/>
                </a:solidFill>
              </a:rPr>
              <a:t>Término</a:t>
            </a:r>
            <a:endParaRPr lang="es-PE" dirty="0">
              <a:solidFill>
                <a:schemeClr val="tx1"/>
              </a:solidFill>
            </a:endParaRPr>
          </a:p>
        </p:txBody>
      </p:sp>
      <p:sp>
        <p:nvSpPr>
          <p:cNvPr id="3" name="Marcador de texto 2"/>
          <p:cNvSpPr>
            <a:spLocks noGrp="1"/>
          </p:cNvSpPr>
          <p:nvPr>
            <p:ph type="body" idx="1"/>
          </p:nvPr>
        </p:nvSpPr>
        <p:spPr>
          <a:xfrm>
            <a:off x="838200" y="2320102"/>
            <a:ext cx="5456068" cy="3994016"/>
          </a:xfrm>
        </p:spPr>
        <p:txBody>
          <a:bodyPr>
            <a:normAutofit/>
          </a:bodyPr>
          <a:lstStyle/>
          <a:p>
            <a:r>
              <a:rPr lang="es-ES" sz="2800" dirty="0">
                <a:latin typeface="Stag Medium" panose="02000603060000020004" pitchFamily="50" charset="0"/>
              </a:rPr>
              <a:t>Algunas recomendaciones: </a:t>
            </a:r>
          </a:p>
          <a:p>
            <a:endParaRPr lang="es-ES" sz="2800" dirty="0">
              <a:latin typeface="Stag Medium" panose="02000603060000020004" pitchFamily="50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REST es </a:t>
            </a:r>
            <a:r>
              <a:rPr lang="en-US" sz="2000" dirty="0" err="1"/>
              <a:t>una</a:t>
            </a:r>
            <a:r>
              <a:rPr lang="en-US" sz="2000" dirty="0"/>
              <a:t> </a:t>
            </a:r>
            <a:r>
              <a:rPr lang="en-US" sz="2000" dirty="0" err="1"/>
              <a:t>arquitectura</a:t>
            </a:r>
            <a:r>
              <a:rPr lang="en-US" sz="2000" dirty="0"/>
              <a:t> </a:t>
            </a:r>
            <a:r>
              <a:rPr lang="en-US" sz="2000" dirty="0" err="1"/>
              <a:t>ligera</a:t>
            </a:r>
            <a:r>
              <a:rPr lang="en-US" sz="2000" dirty="0"/>
              <a:t>, </a:t>
            </a:r>
            <a:r>
              <a:rPr lang="en-US" sz="2000" dirty="0" err="1"/>
              <a:t>escalable</a:t>
            </a:r>
            <a:r>
              <a:rPr lang="en-US" sz="2000" dirty="0"/>
              <a:t> y </a:t>
            </a:r>
            <a:r>
              <a:rPr lang="en-US" sz="2000" dirty="0" err="1"/>
              <a:t>estandar</a:t>
            </a:r>
            <a:r>
              <a:rPr lang="es-E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Spring Boot </a:t>
            </a:r>
            <a:r>
              <a:rPr lang="en-US" sz="2000" dirty="0" err="1"/>
              <a:t>facilita</a:t>
            </a:r>
            <a:r>
              <a:rPr lang="en-US" sz="2000" dirty="0"/>
              <a:t> el </a:t>
            </a:r>
            <a:r>
              <a:rPr lang="en-US" sz="2000" dirty="0" err="1"/>
              <a:t>desarrollo</a:t>
            </a:r>
            <a:r>
              <a:rPr lang="en-US" sz="2000" dirty="0"/>
              <a:t> rápido de servicios</a:t>
            </a:r>
            <a:r>
              <a:rPr lang="es-ES" sz="2000" dirty="0"/>
              <a:t>.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000" dirty="0"/>
              <a:t>Postman </a:t>
            </a:r>
            <a:r>
              <a:rPr lang="en-US" sz="2000" dirty="0" err="1"/>
              <a:t>permite</a:t>
            </a:r>
            <a:r>
              <a:rPr lang="en-US" sz="2000" dirty="0"/>
              <a:t> </a:t>
            </a:r>
            <a:r>
              <a:rPr lang="en-US" sz="2000" dirty="0" err="1"/>
              <a:t>verificar</a:t>
            </a:r>
            <a:r>
              <a:rPr lang="en-US" sz="2000" dirty="0"/>
              <a:t> </a:t>
            </a:r>
            <a:r>
              <a:rPr lang="en-US" sz="2000" dirty="0" err="1"/>
              <a:t>facilmente</a:t>
            </a:r>
            <a:r>
              <a:rPr lang="en-US" sz="2000" dirty="0"/>
              <a:t> las </a:t>
            </a:r>
            <a:r>
              <a:rPr lang="en-US" sz="2000" dirty="0" err="1"/>
              <a:t>operaciones</a:t>
            </a:r>
            <a:endParaRPr lang="es-ES" sz="2000" dirty="0"/>
          </a:p>
        </p:txBody>
      </p:sp>
      <p:pic>
        <p:nvPicPr>
          <p:cNvPr id="5" name="Gráfico 4">
            <a:extLst>
              <a:ext uri="{FF2B5EF4-FFF2-40B4-BE49-F238E27FC236}">
                <a16:creationId xmlns:a16="http://schemas.microsoft.com/office/drawing/2014/main" id="{5835112E-07BF-4A3F-9E9B-E038695366BB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202967" y="3665736"/>
            <a:ext cx="1802167" cy="1802167"/>
          </a:xfrm>
          <a:prstGeom prst="rect">
            <a:avLst/>
          </a:prstGeom>
        </p:spPr>
      </p:pic>
      <p:pic>
        <p:nvPicPr>
          <p:cNvPr id="7" name="Gráfico 20">
            <a:extLst>
              <a:ext uri="{FF2B5EF4-FFF2-40B4-BE49-F238E27FC236}">
                <a16:creationId xmlns:a16="http://schemas.microsoft.com/office/drawing/2014/main" id="{65FC9385-A823-4C28-8E71-335841F38A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82883" y="414182"/>
            <a:ext cx="536772" cy="8966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2271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E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ítulo 6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 dirty="0"/>
              <a:t>GRACIAS</a:t>
            </a:r>
            <a:endParaRPr lang="es-PE" dirty="0"/>
          </a:p>
        </p:txBody>
      </p:sp>
    </p:spTree>
    <p:extLst>
      <p:ext uri="{BB962C8B-B14F-4D97-AF65-F5344CB8AC3E}">
        <p14:creationId xmlns:p14="http://schemas.microsoft.com/office/powerpoint/2010/main" val="623763571"/>
      </p:ext>
    </p:extLst>
  </p:cSld>
  <p:clrMapOvr>
    <a:masterClrMapping/>
  </p:clrMapOvr>
</p:sld>
</file>

<file path=ppt/theme/theme1.xml><?xml version="1.0" encoding="utf-8"?>
<a:theme xmlns:a="http://schemas.openxmlformats.org/drawingml/2006/main" name="disenografico2019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senografico2019" id="{17520084-13A1-4B8E-B2AA-7F147A8FDEA2}" vid="{8F7BF745-232F-4D93-A782-796D8A8A8C0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750</TotalTime>
  <Words>464</Words>
  <Application>Microsoft Office PowerPoint</Application>
  <PresentationFormat>Panorámica</PresentationFormat>
  <Paragraphs>50</Paragraphs>
  <Slides>47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diapositiva</vt:lpstr>
      </vt:variant>
      <vt:variant>
        <vt:i4>47</vt:i4>
      </vt:variant>
    </vt:vector>
  </HeadingPairs>
  <TitlesOfParts>
    <vt:vector size="48" baseType="lpstr">
      <vt:lpstr>disenografico2019</vt:lpstr>
      <vt:lpstr>Cuatro momentos </vt:lpstr>
      <vt:lpstr>Presentación de PowerPoint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Desarrollo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Inicio</vt:lpstr>
      <vt:lpstr>Actividad</vt:lpstr>
      <vt:lpstr>Inicio</vt:lpstr>
      <vt:lpstr>Inicio</vt:lpstr>
      <vt:lpstr>Inicio</vt:lpstr>
      <vt:lpstr>Término</vt:lpstr>
      <vt:lpstr>Término</vt:lpstr>
      <vt:lpstr>GRACIAS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PACKAGING &amp; RETAIL</dc:title>
  <dc:creator>DOCENTE - CRISTIAN JORGE DIAZ  HURTADO</dc:creator>
  <cp:lastModifiedBy>Manrique Ruiz Jose Carlos</cp:lastModifiedBy>
  <cp:revision>50</cp:revision>
  <dcterms:created xsi:type="dcterms:W3CDTF">2020-07-21T23:18:10Z</dcterms:created>
  <dcterms:modified xsi:type="dcterms:W3CDTF">2025-05-28T12:52:51Z</dcterms:modified>
</cp:coreProperties>
</file>