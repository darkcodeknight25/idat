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500" r:id="rId3"/>
    <p:sldId id="257" r:id="rId4"/>
    <p:sldId id="259" r:id="rId5"/>
    <p:sldId id="562" r:id="rId6"/>
    <p:sldId id="563" r:id="rId7"/>
    <p:sldId id="564" r:id="rId8"/>
    <p:sldId id="565" r:id="rId9"/>
    <p:sldId id="567" r:id="rId10"/>
    <p:sldId id="589" r:id="rId11"/>
    <p:sldId id="590" r:id="rId12"/>
    <p:sldId id="591" r:id="rId13"/>
    <p:sldId id="592" r:id="rId14"/>
    <p:sldId id="597" r:id="rId15"/>
    <p:sldId id="568" r:id="rId16"/>
    <p:sldId id="569" r:id="rId17"/>
    <p:sldId id="600" r:id="rId18"/>
    <p:sldId id="601" r:id="rId19"/>
    <p:sldId id="602" r:id="rId20"/>
    <p:sldId id="570" r:id="rId21"/>
    <p:sldId id="555" r:id="rId22"/>
    <p:sldId id="599" r:id="rId23"/>
    <p:sldId id="603" r:id="rId24"/>
    <p:sldId id="572" r:id="rId25"/>
    <p:sldId id="593" r:id="rId26"/>
    <p:sldId id="594" r:id="rId27"/>
    <p:sldId id="595" r:id="rId28"/>
    <p:sldId id="573" r:id="rId29"/>
    <p:sldId id="574" r:id="rId30"/>
    <p:sldId id="604" r:id="rId31"/>
    <p:sldId id="605" r:id="rId32"/>
    <p:sldId id="606" r:id="rId33"/>
    <p:sldId id="607" r:id="rId34"/>
    <p:sldId id="608" r:id="rId35"/>
    <p:sldId id="609" r:id="rId36"/>
    <p:sldId id="610" r:id="rId37"/>
    <p:sldId id="611" r:id="rId38"/>
    <p:sldId id="612" r:id="rId39"/>
    <p:sldId id="613" r:id="rId40"/>
    <p:sldId id="556" r:id="rId41"/>
    <p:sldId id="584" r:id="rId42"/>
    <p:sldId id="559" r:id="rId43"/>
    <p:sldId id="587" r:id="rId44"/>
    <p:sldId id="265" r:id="rId45"/>
  </p:sldIdLst>
  <p:sldSz cx="12192000" cy="6858000"/>
  <p:notesSz cx="6858000" cy="9144000"/>
  <p:embeddedFontLst>
    <p:embeddedFont>
      <p:font typeface="Muller Regular" charset="0"/>
      <p:regular r:id="rId46"/>
    </p:embeddedFont>
    <p:embeddedFont>
      <p:font typeface="Stag Book" panose="02000503060000020004" charset="0"/>
      <p:regular r:id="rId47"/>
      <p:italic r:id="rId48"/>
    </p:embeddedFont>
    <p:embeddedFont>
      <p:font typeface="Stag Light" panose="02000603060000020004" charset="0"/>
      <p:regular r:id="rId49"/>
      <p:italic r:id="rId50"/>
    </p:embeddedFont>
    <p:embeddedFont>
      <p:font typeface="Stag Medium" panose="02000603060000020004" charset="0"/>
      <p:regular r:id="rId51"/>
      <p:italic r:id="rId52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00ED"/>
    <a:srgbClr val="FFC820"/>
    <a:srgbClr val="E61052"/>
    <a:srgbClr val="2A2A2A"/>
    <a:srgbClr val="9FD7B7"/>
    <a:srgbClr val="EE646C"/>
    <a:srgbClr val="FF8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63" autoAdjust="0"/>
    <p:restoredTop sz="94660"/>
  </p:normalViewPr>
  <p:slideViewPr>
    <p:cSldViewPr snapToGrid="0">
      <p:cViewPr varScale="1">
        <p:scale>
          <a:sx n="87" d="100"/>
          <a:sy n="87" d="100"/>
        </p:scale>
        <p:origin x="4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084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50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7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68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224725"/>
            <a:ext cx="10515600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149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902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2224725"/>
            <a:ext cx="5183188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3031958"/>
            <a:ext cx="5183188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41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224725"/>
            <a:ext cx="5183188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559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25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515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900363"/>
            <a:ext cx="8336213" cy="1057275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04/06/2025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0070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A9C405-D21C-40E0-81DC-86AAE06A3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4CFB0538-05B5-4DE6-9B45-89FDCA8A00A6}" type="datetimeFigureOut">
              <a:rPr lang="es-PE" smtClean="0"/>
              <a:pPr/>
              <a:t>04/06/2025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C50FB786-48BF-4F93-AEF9-89E1BCF1BEEA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63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0" r:id="rId5"/>
    <p:sldLayoutId id="2147483652" r:id="rId6"/>
    <p:sldLayoutId id="2147483653" r:id="rId7"/>
    <p:sldLayoutId id="2147483656" r:id="rId8"/>
    <p:sldLayoutId id="2147483654" r:id="rId9"/>
    <p:sldLayoutId id="2147483655" r:id="rId10"/>
    <p:sldLayoutId id="214748365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Stag Light" panose="02000603060000020004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Cuatro momentos </a:t>
            </a:r>
            <a:endParaRPr lang="es-PE" dirty="0"/>
          </a:p>
        </p:txBody>
      </p:sp>
      <p:pic>
        <p:nvPicPr>
          <p:cNvPr id="5" name="Gráfico 38">
            <a:extLst>
              <a:ext uri="{FF2B5EF4-FFF2-40B4-BE49-F238E27FC236}">
                <a16:creationId xmlns:a16="http://schemas.microsoft.com/office/drawing/2014/main" id="{44A1BE57-CBDD-4F2A-B06F-13BCC3D53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8724" y="4973456"/>
            <a:ext cx="7715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1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922" y="5632047"/>
            <a:ext cx="536772" cy="896619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0A560F7-42C4-43F8-A3C3-05EF27CD6C3A}"/>
              </a:ext>
            </a:extLst>
          </p:cNvPr>
          <p:cNvGrpSpPr/>
          <p:nvPr/>
        </p:nvGrpSpPr>
        <p:grpSpPr>
          <a:xfrm>
            <a:off x="665516" y="1181102"/>
            <a:ext cx="10860968" cy="4110457"/>
            <a:chOff x="940196" y="976812"/>
            <a:chExt cx="10860968" cy="4110457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E1E547F-9519-4409-AA93-BF7CB95ED6DD}"/>
                </a:ext>
              </a:extLst>
            </p:cNvPr>
            <p:cNvSpPr txBox="1"/>
            <p:nvPr/>
          </p:nvSpPr>
          <p:spPr>
            <a:xfrm>
              <a:off x="940196" y="976812"/>
              <a:ext cx="244760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i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621B773-4FB5-44C4-8FA6-ABD393F4A36A}"/>
                </a:ext>
              </a:extLst>
            </p:cNvPr>
            <p:cNvSpPr txBox="1"/>
            <p:nvPr/>
          </p:nvSpPr>
          <p:spPr>
            <a:xfrm>
              <a:off x="9292595" y="1053829"/>
              <a:ext cx="250856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t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7AF91BD-1F8E-4E25-884C-933B95A66CBC}"/>
                </a:ext>
              </a:extLst>
            </p:cNvPr>
            <p:cNvSpPr txBox="1"/>
            <p:nvPr/>
          </p:nvSpPr>
          <p:spPr>
            <a:xfrm>
              <a:off x="6667326" y="1053829"/>
              <a:ext cx="2441415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a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68FC3DB-8848-48DA-991E-EB5517F0A33F}"/>
                </a:ext>
              </a:extLst>
            </p:cNvPr>
            <p:cNvSpPr txBox="1"/>
            <p:nvPr/>
          </p:nvSpPr>
          <p:spPr>
            <a:xfrm>
              <a:off x="3624962" y="1053829"/>
              <a:ext cx="2436974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d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3962F92-DFDD-4525-8768-BEEC4747A6B4}"/>
                </a:ext>
              </a:extLst>
            </p:cNvPr>
            <p:cNvSpPr txBox="1"/>
            <p:nvPr/>
          </p:nvSpPr>
          <p:spPr>
            <a:xfrm>
              <a:off x="1031302" y="4370417"/>
              <a:ext cx="2190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inicio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B325B5B-9620-4DF4-9EB1-E55307F23191}"/>
                </a:ext>
              </a:extLst>
            </p:cNvPr>
            <p:cNvSpPr txBox="1"/>
            <p:nvPr/>
          </p:nvSpPr>
          <p:spPr>
            <a:xfrm>
              <a:off x="3209552" y="4370417"/>
              <a:ext cx="33020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desarrollo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098AA22-E352-480A-9ADB-DED263579889}"/>
                </a:ext>
              </a:extLst>
            </p:cNvPr>
            <p:cNvSpPr txBox="1"/>
            <p:nvPr/>
          </p:nvSpPr>
          <p:spPr>
            <a:xfrm>
              <a:off x="6573496" y="4362427"/>
              <a:ext cx="30124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aplicación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6C88720-1E4E-4387-A59E-97EEB429A5D6}"/>
                </a:ext>
              </a:extLst>
            </p:cNvPr>
            <p:cNvSpPr txBox="1"/>
            <p:nvPr/>
          </p:nvSpPr>
          <p:spPr>
            <a:xfrm>
              <a:off x="9585904" y="4379383"/>
              <a:ext cx="21877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término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99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I</a:t>
            </a:r>
            <a:r>
              <a:rPr lang="es-PE" b="1" dirty="0" err="1">
                <a:solidFill>
                  <a:schemeClr val="bg1"/>
                </a:solidFill>
              </a:rPr>
              <a:t>nicio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8" y="5486401"/>
            <a:ext cx="9003031" cy="170701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Java Message Service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2457" y="5383338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6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5497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Objetivo</a:t>
            </a:r>
            <a:r>
              <a:rPr lang="es-ES" sz="2800" dirty="0">
                <a:latin typeface="Stag Medium" panose="02000603060000020004" pitchFamily="50" charset="0"/>
              </a:rPr>
              <a:t>:</a:t>
            </a:r>
          </a:p>
          <a:p>
            <a:r>
              <a:rPr lang="es-E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Comprender la arquitectura de Java Message Service (JMS).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Identificar los modelos de mensajería: P2P y Pub/Sub.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dirty="0"/>
              <a:t>Implementar middleware JMS con ActiveMQ y Spring Boot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B6B4E0A-FB4E-8C6E-0374-998C2DA85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237" y="3107642"/>
            <a:ext cx="5953763" cy="29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6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7" y="2254384"/>
            <a:ext cx="4769046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¿</a:t>
            </a:r>
            <a:r>
              <a:rPr lang="en-US" sz="2800" dirty="0" err="1">
                <a:latin typeface="Stag Medium" panose="02000603060000020004" pitchFamily="50" charset="0"/>
              </a:rPr>
              <a:t>Qué</a:t>
            </a:r>
            <a:r>
              <a:rPr lang="en-US" sz="2800" dirty="0">
                <a:latin typeface="Stag Medium" panose="02000603060000020004" pitchFamily="50" charset="0"/>
              </a:rPr>
              <a:t> es JMS?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15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API estándar para mensajería asincrónica en Java.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Comunicación desacoplada entre aplicaciones.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8DA7E3C-0ABE-4DA4-5DC1-E574416CC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592" y="1952252"/>
            <a:ext cx="5941862" cy="490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0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86975" y="2254384"/>
            <a:ext cx="5616569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Modelos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Mensajería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15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Punto a Punto (P2P): 1 productor → 1 consumidor.</a:t>
            </a:r>
            <a:endParaRPr lang="en-US" sz="15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Publicación/Suscripción (Pub/Sub): 1 productor → N consumidores.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6204556-F9AB-4E16-61E7-5F5F6AFEB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723" y="2254384"/>
            <a:ext cx="5616569" cy="15121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55AB8C-2324-D323-341D-E0E29CF36F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900" y="4284250"/>
            <a:ext cx="5824791" cy="167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0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4696389" cy="368116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Componentes</a:t>
            </a:r>
            <a:r>
              <a:rPr lang="en-US" sz="2800" dirty="0">
                <a:latin typeface="Stag Medium" panose="02000603060000020004" pitchFamily="50" charset="0"/>
              </a:rPr>
              <a:t> de JMS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Cliente JMS, Productor, Consumidor, Proveedor JMS.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Mensajes JMS: Encabezado, Propiedades, Cuerpo.</a:t>
            </a:r>
          </a:p>
          <a:p>
            <a:endParaRPr lang="es-US" sz="105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950F4C0-3B37-E40E-B726-AA9E6564F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48" y="5247656"/>
            <a:ext cx="6096000" cy="140962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E5991DB-F30B-CF47-F3D7-A972E38BD4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528" y="2110590"/>
            <a:ext cx="5456724" cy="445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2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Objetos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Administrados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JNDI</a:t>
            </a:r>
            <a:endParaRPr lang="en-US" sz="15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ConnectionFactory</a:t>
            </a:r>
            <a:endParaRPr lang="en-US" sz="15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Destination (Cola/Tópico)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B8AAAF9-3521-C539-A99B-CDB857E9D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400" y="2133766"/>
            <a:ext cx="6867046" cy="472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5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Estructura</a:t>
            </a:r>
            <a:r>
              <a:rPr lang="en-US" sz="2800" dirty="0">
                <a:latin typeface="Stag Medium" panose="02000603060000020004" pitchFamily="50" charset="0"/>
              </a:rPr>
              <a:t> de un </a:t>
            </a:r>
            <a:r>
              <a:rPr lang="en-US" sz="2800" dirty="0" err="1">
                <a:latin typeface="Stag Medium" panose="02000603060000020004" pitchFamily="50" charset="0"/>
              </a:rPr>
              <a:t>Mensaje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Encabezado: ID, Timestamp,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Propiedades: Filtros de mensajes.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Cuerpo: Datos reales (6 tipos de mensajes JMS).</a:t>
            </a:r>
          </a:p>
          <a:p>
            <a:endParaRPr lang="es-ES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FC8D20C-B0D7-D80D-855F-0176A4330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710" y="3086958"/>
            <a:ext cx="5647469" cy="292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0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151705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Tipos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Mensajes</a:t>
            </a:r>
            <a:r>
              <a:rPr lang="en-US" sz="2800" dirty="0">
                <a:latin typeface="Stag Medium" panose="02000603060000020004" pitchFamily="50" charset="0"/>
              </a:rPr>
              <a:t>: TextMessage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4041E1-49CC-2CAC-99AC-C1457620E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20750"/>
            <a:ext cx="10652296" cy="218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54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151705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Tipos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Mensaje</a:t>
            </a:r>
            <a:r>
              <a:rPr lang="en-US" sz="2800" dirty="0">
                <a:latin typeface="Stag Medium" panose="02000603060000020004" pitchFamily="50" charset="0"/>
              </a:rPr>
              <a:t>: ObjectMessage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122240-9677-15A5-5F10-18DADFEE3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10084640" cy="25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6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117461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Tipos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Mensaje</a:t>
            </a:r>
            <a:r>
              <a:rPr lang="en-US" sz="2800" dirty="0">
                <a:latin typeface="Stag Medium" panose="02000603060000020004" pitchFamily="50" charset="0"/>
              </a:rPr>
              <a:t>: ByteMessage</a:t>
            </a:r>
            <a:endParaRPr lang="es-ES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C5D9AA7-3755-42FA-7A54-598883369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73335"/>
            <a:ext cx="9315770" cy="310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78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75852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Tipos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Mensaje</a:t>
            </a:r>
            <a:r>
              <a:rPr lang="en-US" sz="2800" dirty="0">
                <a:latin typeface="Stag Medium" panose="02000603060000020004" pitchFamily="50" charset="0"/>
              </a:rPr>
              <a:t>: MapMessage</a:t>
            </a:r>
            <a:endParaRPr lang="es-ES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F82E5DA-ADAA-355D-E835-7DA991C2E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89061"/>
            <a:ext cx="9899859" cy="367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68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758528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Tipos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Mensaje</a:t>
            </a:r>
            <a:r>
              <a:rPr lang="en-US" sz="2800" dirty="0">
                <a:latin typeface="Stag Medium" panose="02000603060000020004" pitchFamily="50" charset="0"/>
              </a:rPr>
              <a:t>: StreamMessage</a:t>
            </a:r>
            <a:endParaRPr lang="es-ES" sz="20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A78B93-A1F8-FBA8-6483-E0178947F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70023"/>
            <a:ext cx="9887349" cy="371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860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7" y="2254384"/>
            <a:ext cx="5659902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API </a:t>
            </a:r>
            <a:r>
              <a:rPr lang="en-US" sz="2800" dirty="0" err="1">
                <a:latin typeface="Stag Medium" panose="02000603060000020004" pitchFamily="50" charset="0"/>
              </a:rPr>
              <a:t>Punto</a:t>
            </a:r>
            <a:r>
              <a:rPr lang="en-US" sz="2800" dirty="0">
                <a:latin typeface="Stag Medium" panose="02000603060000020004" pitchFamily="50" charset="0"/>
              </a:rPr>
              <a:t> a </a:t>
            </a:r>
            <a:r>
              <a:rPr lang="en-US" sz="2800" dirty="0" err="1">
                <a:latin typeface="Stag Medium" panose="02000603060000020004" pitchFamily="50" charset="0"/>
              </a:rPr>
              <a:t>Punto</a:t>
            </a:r>
            <a:r>
              <a:rPr lang="en-US" sz="2800" dirty="0">
                <a:latin typeface="Stag Medium" panose="02000603060000020004" pitchFamily="50" charset="0"/>
              </a:rPr>
              <a:t> (P2P)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500" dirty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+mn-lt"/>
              </a:rPr>
              <a:t>QueueConnectionFactory, Queue, QueueSender, QueueReceiver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+mn-lt"/>
              </a:rPr>
              <a:t>Uso común para tareas específicas o garantizadas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C5F223-1FA4-A3FE-5EA9-A68DDB63B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7"/>
          <a:stretch>
            <a:fillRect/>
          </a:stretch>
        </p:blipFill>
        <p:spPr>
          <a:xfrm>
            <a:off x="6532097" y="1932039"/>
            <a:ext cx="5659903" cy="418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38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7" y="2254384"/>
            <a:ext cx="5682288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API </a:t>
            </a:r>
            <a:r>
              <a:rPr lang="en-US" sz="2800" dirty="0" err="1">
                <a:latin typeface="Stag Medium" panose="02000603060000020004" pitchFamily="50" charset="0"/>
              </a:rPr>
              <a:t>Publicación</a:t>
            </a:r>
            <a:r>
              <a:rPr lang="en-US" sz="2800" dirty="0">
                <a:latin typeface="Stag Medium" panose="02000603060000020004" pitchFamily="50" charset="0"/>
              </a:rPr>
              <a:t> / </a:t>
            </a:r>
            <a:r>
              <a:rPr lang="en-US" sz="2800" dirty="0" err="1">
                <a:latin typeface="Stag Medium" panose="02000603060000020004" pitchFamily="50" charset="0"/>
              </a:rPr>
              <a:t>Suscripción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TopicConnectionFactory, TopicPublisher, TopicSubscriber</a:t>
            </a:r>
            <a:endParaRPr lang="en-US" sz="15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Uso para notificaciones o broadcasting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9F76520-BABE-C42C-D0E7-4EE514170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48"/>
          <a:stretch>
            <a:fillRect/>
          </a:stretch>
        </p:blipFill>
        <p:spPr>
          <a:xfrm>
            <a:off x="6400448" y="2187837"/>
            <a:ext cx="5604251" cy="40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03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F4B315-B46B-B824-44EB-6C8C6F0E4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73" y="2244739"/>
            <a:ext cx="6383421" cy="406937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D8A6B31-0E70-F86A-DE7F-C12E9D66F6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421" y="2244739"/>
            <a:ext cx="5649006" cy="32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57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08E8552-757C-331C-976C-E2FD98CEC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523" y="1932040"/>
            <a:ext cx="6197179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11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5DD8C1-B48F-6587-358E-EED3CE928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288" y="1932040"/>
            <a:ext cx="6189963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38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¿</a:t>
            </a:r>
            <a:r>
              <a:rPr lang="en-US" sz="2800" dirty="0" err="1">
                <a:latin typeface="Stag Medium" panose="02000603060000020004" pitchFamily="50" charset="0"/>
              </a:rPr>
              <a:t>Qué</a:t>
            </a:r>
            <a:r>
              <a:rPr lang="en-US" sz="2800" dirty="0">
                <a:latin typeface="Stag Medium" panose="02000603060000020004" pitchFamily="50" charset="0"/>
              </a:rPr>
              <a:t> es ActiveMQ?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Bróker JMS open-source.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Enrutamiento y entrega de mensajes.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6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Desarrollo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Creación</a:t>
            </a:r>
            <a:r>
              <a:rPr lang="en-US" dirty="0">
                <a:solidFill>
                  <a:schemeClr val="bg1"/>
                </a:solidFill>
              </a:rPr>
              <a:t> y </a:t>
            </a:r>
            <a:r>
              <a:rPr lang="en-US" dirty="0" err="1">
                <a:solidFill>
                  <a:schemeClr val="bg1"/>
                </a:solidFill>
              </a:rPr>
              <a:t>consumo</a:t>
            </a:r>
            <a:r>
              <a:rPr lang="en-US" dirty="0">
                <a:solidFill>
                  <a:schemeClr val="bg1"/>
                </a:solidFill>
              </a:rPr>
              <a:t> de servicios web REST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3499" y="521050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49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69717" y="2475922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Instalación</a:t>
            </a:r>
            <a:r>
              <a:rPr lang="en-US" sz="2800" dirty="0">
                <a:latin typeface="Stag Medium" panose="02000603060000020004" pitchFamily="50" charset="0"/>
              </a:rPr>
              <a:t> y </a:t>
            </a:r>
            <a:r>
              <a:rPr lang="en-US" sz="2800" dirty="0" err="1">
                <a:latin typeface="Stag Medium" panose="02000603060000020004" pitchFamily="50" charset="0"/>
              </a:rPr>
              <a:t>Prueba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000000"/>
                </a:solidFill>
                <a:latin typeface="Calibri" panose="020F0502020204030204" pitchFamily="34" charset="0"/>
              </a:rPr>
              <a:t>Ejecutar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activemq.bat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Acceso web: http://127.0.0.1:8161/admin</a:t>
            </a:r>
          </a:p>
          <a:p>
            <a:endParaRPr lang="es-US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02689C4-00CC-8ED6-8D9C-DA2B494E7C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960" y="2974527"/>
            <a:ext cx="4843806" cy="333959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A82C54F-C997-41A2-D209-85C43B0C8C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677" y="2475922"/>
            <a:ext cx="3965462" cy="68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96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77113A7-8DFD-ABBB-C2A9-D1B386D5A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15" y="1978526"/>
            <a:ext cx="7339970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0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en Spring Boot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File &gt; New &gt; Spring Starter Project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Nombre del proyecto: restws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Agregar dependencia: Spring Web </a:t>
            </a:r>
            <a:r>
              <a:rPr lang="en-US" sz="1500" dirty="0"/>
              <a:t>for Apache Active MQ</a:t>
            </a:r>
            <a:endParaRPr lang="es-US" sz="15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Finalizar configuración y verificar el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C265E11-0F92-95A5-A28B-559DCC903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934" y="4107630"/>
            <a:ext cx="5940348" cy="12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52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en Spring Boot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File &gt; New &gt; Spring Starter Project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Nombre del proyecto: restws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Agregar dependencia: Spring</a:t>
            </a:r>
            <a:r>
              <a:rPr lang="en-US" sz="1500" dirty="0"/>
              <a:t> for Apache Active MQ</a:t>
            </a:r>
            <a:endParaRPr lang="es-US" sz="15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Finalizar configuración y verificar el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EF8FA4F-A45A-0F46-88A1-067B30225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031" y="1932039"/>
            <a:ext cx="4810480" cy="477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20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en Spring Boot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File &gt; New &gt; Spring Starter Project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Nombre del proyecto: restws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Agregar dependencia: Spring </a:t>
            </a:r>
            <a:r>
              <a:rPr lang="en-US" sz="1500" dirty="0"/>
              <a:t>for Apache Active MQ</a:t>
            </a:r>
            <a:endParaRPr lang="es-US" sz="15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Finalizar configuración y verificar el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8FA13B6-3EF6-7004-49A1-9AC128342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685" y="2475922"/>
            <a:ext cx="5291598" cy="387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74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en Spring Boot</a:t>
            </a:r>
          </a:p>
          <a:p>
            <a:pPr marL="228600" indent="-228600">
              <a:buFont typeface="+mj-lt"/>
              <a:buAutoNum type="arabicPeriod"/>
            </a:pPr>
            <a:endParaRPr lang="en-US" sz="15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File &gt; New &gt; Spring Starter Project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Nombre del proyecto: restws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Agregar dependencia: Spring </a:t>
            </a:r>
            <a:r>
              <a:rPr lang="en-US" sz="1500" dirty="0"/>
              <a:t>for Apache Active MQ</a:t>
            </a:r>
            <a:endParaRPr lang="es-US" sz="15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Finalizar configuración y verificar el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777D59-2D53-1308-1765-F2BBE7F9DE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70726"/>
            <a:ext cx="6108082" cy="478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27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7" y="2254384"/>
            <a:ext cx="4695054" cy="382891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Configuración Spring Boot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Application.properties con URL </a:t>
            </a: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credenciales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Anotaciones: @EnableJms, @JmsListener, @SendTo</a:t>
            </a:r>
          </a:p>
          <a:p>
            <a:endParaRPr lang="es-US" sz="15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0B6ADF-FE71-E0E9-4AE4-F4703148C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0" y="3321048"/>
            <a:ext cx="6467020" cy="10571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C5AF44-0DA6-37F7-6AA1-5A6D991AC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0" y="4378157"/>
            <a:ext cx="6045024" cy="140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65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Pruebas</a:t>
            </a:r>
            <a:r>
              <a:rPr lang="en-US" sz="2800" dirty="0">
                <a:latin typeface="Stag Medium" panose="02000603060000020004" pitchFamily="50" charset="0"/>
              </a:rPr>
              <a:t> de Envío/</a:t>
            </a:r>
            <a:r>
              <a:rPr lang="en-US" sz="2800" dirty="0" err="1">
                <a:latin typeface="Stag Medium" panose="02000603060000020004" pitchFamily="50" charset="0"/>
              </a:rPr>
              <a:t>Recepción</a:t>
            </a:r>
            <a:endParaRPr lang="en-US" sz="2800" dirty="0">
              <a:latin typeface="Stag Medium" panose="02000603060000020004" pitchFamily="50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Iniciar ActiveMQ y el proyecto Spring Boot.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Acceder a la consola web de ActiveMQ.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Enviar mensaje JSON: {"nombre":"Karla"}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Verificar mensaje recibido en consola Java.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Observar respuesta en cola de salida desde ActiveMQ.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B2E9BE-6894-9870-BD85-66235D613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976311"/>
            <a:ext cx="4789497" cy="488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2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Pruebas</a:t>
            </a:r>
            <a:r>
              <a:rPr lang="en-US" sz="2800" dirty="0">
                <a:latin typeface="Stag Medium" panose="02000603060000020004" pitchFamily="50" charset="0"/>
              </a:rPr>
              <a:t> de Envío/</a:t>
            </a:r>
            <a:r>
              <a:rPr lang="en-US" sz="2800" dirty="0" err="1">
                <a:latin typeface="Stag Medium" panose="02000603060000020004" pitchFamily="50" charset="0"/>
              </a:rPr>
              <a:t>Recepción</a:t>
            </a:r>
            <a:endParaRPr lang="en-US" sz="2800" dirty="0">
              <a:latin typeface="Stag Medium" panose="02000603060000020004" pitchFamily="50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5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Iniciar ActiveMQ y el proyecto Spring Boot.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Acceder a la consola web de ActiveMQ.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Enviar mensaje JSON: {"nombre":"Karla"}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Verificar mensaje recibido en consola Java.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Observar respuesta en cola de salida desde ActiveMQ.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9E17654-0D25-0D3C-732A-9F48CDA58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903" y="1932039"/>
            <a:ext cx="5350340" cy="49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13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9081261-01E8-F7C6-3194-DA51355B4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40" y="1998002"/>
            <a:ext cx="10426719" cy="485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09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9081261-01E8-F7C6-3194-DA51355B4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40" y="1998002"/>
            <a:ext cx="10426719" cy="485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99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09C3BF-2A86-39E8-B8D8-9006457BF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75" y="1958211"/>
            <a:ext cx="10072450" cy="44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2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53793D3-3C3B-E6D9-3C98-F8C1360B3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931" y="1932040"/>
            <a:ext cx="8358137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22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9E39F2-BE29-B1E3-0AEB-080967FC0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63" y="1958211"/>
            <a:ext cx="11240874" cy="341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32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E04532B-2973-EB2D-2E11-4C7253D3B1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342" y="1934638"/>
            <a:ext cx="7889315" cy="492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164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FB4C54-7EF4-E09A-A201-50104D2133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855" y="1978526"/>
            <a:ext cx="8110290" cy="48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216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06886FF-4AAF-DDBE-0F80-3EE68CDC3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43" y="2512940"/>
            <a:ext cx="11110114" cy="317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287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AC4A57-F685-1B66-5979-673C86C35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736" y="1932041"/>
            <a:ext cx="4978568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4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Actividad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Desarrollar actividad de aprendizaje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857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60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</a:t>
            </a:r>
            <a:r>
              <a:rPr lang="en-US" sz="2800" dirty="0">
                <a:latin typeface="Stag Medium" panose="02000603060000020004" pitchFamily="50" charset="0"/>
              </a:rPr>
              <a:t>: Implementación JMS</a:t>
            </a:r>
          </a:p>
          <a:p>
            <a:endParaRPr lang="en-US" sz="800" dirty="0"/>
          </a:p>
          <a:p>
            <a:r>
              <a:rPr lang="es-US" sz="1500" dirty="0">
                <a:latin typeface="+mn-lt"/>
              </a:rPr>
              <a:t>Instrucciones: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i="0" u="none" strike="noStrike" dirty="0" err="1">
                <a:solidFill>
                  <a:srgbClr val="000000"/>
                </a:solidFill>
                <a:effectLst/>
                <a:latin typeface="+mn-lt"/>
              </a:rPr>
              <a:t>Implementar</a:t>
            </a:r>
            <a:r>
              <a:rPr lang="en-US" sz="150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+mn-lt"/>
              </a:rPr>
              <a:t>sistema JMS P2P que reciba un JSON con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i="0" u="none" strike="noStrike" dirty="0">
                <a:solidFill>
                  <a:srgbClr val="000000"/>
                </a:solidFill>
                <a:effectLst/>
                <a:latin typeface="+mn-lt"/>
              </a:rPr>
              <a:t>Mostrar funcionamiento de colas en ActiveMQ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785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Término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Indicaciones generales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2380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9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2475922"/>
            <a:ext cx="6281691" cy="4059734"/>
          </a:xfrm>
        </p:spPr>
        <p:txBody>
          <a:bodyPr>
            <a:normAutofit lnSpcReduction="10000"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Cierre</a:t>
            </a:r>
            <a:r>
              <a:rPr lang="en-US" sz="2800" dirty="0">
                <a:latin typeface="Stag Medium" panose="02000603060000020004" pitchFamily="50" charset="0"/>
              </a:rPr>
              <a:t> y </a:t>
            </a:r>
            <a:r>
              <a:rPr lang="en-US" sz="2800" dirty="0" err="1">
                <a:latin typeface="Stag Medium" panose="02000603060000020004" pitchFamily="50" charset="0"/>
              </a:rPr>
              <a:t>preguntas</a:t>
            </a:r>
            <a:endParaRPr lang="en-US" sz="2800" dirty="0">
              <a:latin typeface="Stag Medium" panose="02000603060000020004" pitchFamily="50" charset="0"/>
            </a:endParaRPr>
          </a:p>
          <a:p>
            <a:endParaRPr lang="en-US" sz="2800" dirty="0">
              <a:latin typeface="Stag Medium" panose="02000603060000020004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JMS facilita la comunicación asincrónica y desacoplada entre aplicaciones distribuidas, permitiendo que los componentes del sistema trabajen de manera independiente, mejorando la escalabilidad, el rendimiento y la tolerancia a fallos.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Los modelos de mensajería Punto a Punto (P2P) y Publicación/Suscripción (Pub/Sub) ofrecen soluciones específicas según la necesidad: el primero para tareas únicas por consumidor, y el segundo para difusión de eventos a múltiples receptores.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La integración de JMS con herramientas como ActiveMQ y frameworks como Spring Boot permite desarrollar soluciones de mensajería empresariales robustas, configurables y fáciles de mantener, lo cual es esencial en arquitecturas orientadas a servicios (SOA y microservicios).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D31281C-1D8E-89E6-EE7E-8E85D03715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61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3763571"/>
      </p:ext>
    </p:extLst>
  </p:cSld>
  <p:clrMapOvr>
    <a:masterClrMapping/>
  </p:clrMapOvr>
</p:sld>
</file>

<file path=ppt/theme/theme1.xml><?xml version="1.0" encoding="utf-8"?>
<a:theme xmlns:a="http://schemas.openxmlformats.org/drawingml/2006/main" name="disenografico20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senografico2019" id="{17520084-13A1-4B8E-B2AA-7F147A8FDEA2}" vid="{8F7BF745-232F-4D93-A782-796D8A8A8C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688</Words>
  <Application>Microsoft Office PowerPoint</Application>
  <PresentationFormat>Panorámica</PresentationFormat>
  <Paragraphs>157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1" baseType="lpstr">
      <vt:lpstr>Stag Book</vt:lpstr>
      <vt:lpstr>Arial</vt:lpstr>
      <vt:lpstr>Stag Light</vt:lpstr>
      <vt:lpstr>Calibri</vt:lpstr>
      <vt:lpstr>Muller Regular</vt:lpstr>
      <vt:lpstr>Stag Medium</vt:lpstr>
      <vt:lpstr>disenografico2019</vt:lpstr>
      <vt:lpstr>Cuatro momentos </vt:lpstr>
      <vt:lpstr>Presentación de PowerPoint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Desarrollo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Actividad</vt:lpstr>
      <vt:lpstr>Inicio</vt:lpstr>
      <vt:lpstr>Término</vt:lpstr>
      <vt:lpstr>Inicio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PACKAGING &amp; RETAIL</dc:title>
  <dc:creator>DOCENTE - CRISTIAN JORGE DIAZ  HURTADO</dc:creator>
  <cp:lastModifiedBy>IDAT</cp:lastModifiedBy>
  <cp:revision>53</cp:revision>
  <dcterms:created xsi:type="dcterms:W3CDTF">2020-07-21T23:18:10Z</dcterms:created>
  <dcterms:modified xsi:type="dcterms:W3CDTF">2025-06-04T16:10:44Z</dcterms:modified>
</cp:coreProperties>
</file>