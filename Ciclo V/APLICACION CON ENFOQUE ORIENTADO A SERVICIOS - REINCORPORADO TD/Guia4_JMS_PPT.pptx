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600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FC700"/>
          </a:solidFill>
          <a:ln w="12700">
            <a:solidFill>
              <a:srgbClr val="FFC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C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↘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Aplicaciones con Enfoque</a:t>
            </a:r>
            <a:endParaRPr lang="en-US" sz="2800" dirty="0"/>
          </a:p>
          <a:p>
            <a:pPr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Orientado a Servicios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246888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Guía 4 – Java Message Service (JMS)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33832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C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N°4 | Escuela de Tecnología – IDAT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38404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de logro N°4: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D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 middleware JMS utilizando un modelo específico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046720" y="4389120"/>
            <a:ext cx="914400" cy="640080"/>
          </a:xfrm>
          <a:prstGeom prst="rect">
            <a:avLst/>
          </a:prstGeom>
          <a:solidFill>
            <a:srgbClr val="FFC700"/>
          </a:solidFill>
          <a:ln w="12700">
            <a:solidFill>
              <a:srgbClr val="FFC7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0" y="44805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00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idat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C7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20116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6600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3566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6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0" y="457200"/>
            <a:ext cx="20116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6600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2743200" y="3566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6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0" y="457200"/>
            <a:ext cx="20116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6600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5029200" y="3566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6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0" y="457200"/>
            <a:ext cx="20116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6600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</a:t>
            </a:r>
            <a:endParaRPr lang="en-US" sz="9600" dirty="0"/>
          </a:p>
        </p:txBody>
      </p:sp>
      <p:sp>
        <p:nvSpPr>
          <p:cNvPr id="9" name="Text 7"/>
          <p:cNvSpPr/>
          <p:nvPr/>
        </p:nvSpPr>
        <p:spPr>
          <a:xfrm>
            <a:off x="7315200" y="3566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6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término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600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Inicio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48640" y="44805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D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Conocimientos previos · Logro de aprendizaje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0" y="4389120"/>
            <a:ext cx="731520" cy="548640"/>
          </a:xfrm>
          <a:prstGeom prst="rect">
            <a:avLst/>
          </a:prstGeom>
          <a:solidFill>
            <a:srgbClr val="FFC700"/>
          </a:solidFill>
          <a:ln w="12700">
            <a:solidFill>
              <a:srgbClr val="FFC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4348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600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idat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C700"/>
          </a:solidFill>
          <a:ln w="12700">
            <a:solidFill>
              <a:srgbClr val="FFC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400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sabemos sobre mensajería asíncrona?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21040" y="45720"/>
            <a:ext cx="685800" cy="914400"/>
          </a:xfrm>
          <a:prstGeom prst="rect">
            <a:avLst/>
          </a:prstGeom>
          <a:solidFill>
            <a:srgbClr val="6600CC"/>
          </a:solidFill>
          <a:ln w="12700">
            <a:solidFill>
              <a:srgbClr val="6600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0" y="347472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idat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entienden por comunicación asíncrona entre sistemas?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¿Han escuchado sobre middleware de mensajería?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ventaja tiene que dos sistemas no se comuniquen directamente?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de logro: Implementa middleware JMS utilizando un modelo específico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600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Desarrollo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48640" y="44805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D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 de conocimiento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0" y="4389120"/>
            <a:ext cx="731520" cy="548640"/>
          </a:xfrm>
          <a:prstGeom prst="rect">
            <a:avLst/>
          </a:prstGeom>
          <a:solidFill>
            <a:srgbClr val="FFC700"/>
          </a:solidFill>
          <a:ln w="12700">
            <a:solidFill>
              <a:srgbClr val="FFC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4348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600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idat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C700"/>
          </a:solidFill>
          <a:ln w="12700">
            <a:solidFill>
              <a:srgbClr val="FFC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· Arquitectura JMS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400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es Java Message Service (JMS)?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21040" y="45720"/>
            <a:ext cx="685800" cy="914400"/>
          </a:xfrm>
          <a:prstGeom prst="rect">
            <a:avLst/>
          </a:prstGeom>
          <a:solidFill>
            <a:srgbClr val="6600CC"/>
          </a:solidFill>
          <a:ln w="12700">
            <a:solidFill>
              <a:srgbClr val="6600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0" y="347472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idat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 mensajería empresarial diseñada para Java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 el envío y recepción asíncrona de datos y eventos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interfaces y semánticas comunes para comunicación entre aplicaciones Java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Minimiza la curva de aprendizaje para productos de mensajería empresarial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Maximiza la portabilidad de las aplicaciones de mensajería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C700"/>
          </a:solidFill>
          <a:ln w="12700">
            <a:solidFill>
              <a:srgbClr val="FFC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· Arquitectura JMS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400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Modelos de Mensajería JMS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21040" y="45720"/>
            <a:ext cx="685800" cy="914400"/>
          </a:xfrm>
          <a:prstGeom prst="rect">
            <a:avLst/>
          </a:prstGeom>
          <a:solidFill>
            <a:srgbClr val="6600CC"/>
          </a:solidFill>
          <a:ln w="12700">
            <a:solidFill>
              <a:srgbClr val="6600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0" y="347472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idat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3931920" cy="411480"/>
          </a:xfrm>
          <a:prstGeom prst="rect">
            <a:avLst/>
          </a:prstGeom>
          <a:solidFill>
            <a:srgbClr val="6600CC"/>
          </a:solidFill>
          <a:ln w="12700">
            <a:solidFill>
              <a:srgbClr val="6600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972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a Punto (P2P / Cola)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554480"/>
            <a:ext cx="39319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mensaje → un único consumidor (1:1)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Destino: cola definida (FIFO)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haber varios productores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primer mensaje encolado es el primero en salir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3931920" cy="411480"/>
          </a:xfrm>
          <a:prstGeom prst="rect">
            <a:avLst/>
          </a:prstGeom>
          <a:solidFill>
            <a:srgbClr val="FFC700"/>
          </a:solidFill>
          <a:ln w="12700">
            <a:solidFill>
              <a:srgbClr val="FFC7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0972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Publicación / Suscripción (Pub/Sub)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1554480"/>
            <a:ext cx="39319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mensaje → múltiples consumidores (1:N)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Destino: Tópico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 NO se encolan; el nuevo sobrescribe al anterior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Productores publican, consumidores se suscriben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C700"/>
          </a:solidFill>
          <a:ln w="12700">
            <a:solidFill>
              <a:srgbClr val="FFC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· Arquitectura JMS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400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Elementos de la Arquitectura JMS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21040" y="45720"/>
            <a:ext cx="685800" cy="914400"/>
          </a:xfrm>
          <a:prstGeom prst="rect">
            <a:avLst/>
          </a:prstGeom>
          <a:solidFill>
            <a:srgbClr val="6600CC"/>
          </a:solidFill>
          <a:ln w="12700">
            <a:solidFill>
              <a:srgbClr val="6600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0" y="347472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idat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JMS: aplicación 100% Java que envía/recibe mensajes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Productor JMS: crea y envía mensajes JMS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Consumidor JMS: recibe y procesa mensajes JMS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 JMS: implementación de los interfaces JMS (ej: ActiveMQ)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 JMS: objeto con cabecera + propiedades + cuerpo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Objetos Administrados: Factoría de Conexión y Destino (accedidos via JNDI)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C700"/>
          </a:solidFill>
          <a:ln w="12700">
            <a:solidFill>
              <a:srgbClr val="FFC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· Modelo de Programación JMS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400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Estructura del Mensaje JMS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21040" y="45720"/>
            <a:ext cx="685800" cy="914400"/>
          </a:xfrm>
          <a:prstGeom prst="rect">
            <a:avLst/>
          </a:prstGeom>
          <a:solidFill>
            <a:srgbClr val="6600CC"/>
          </a:solidFill>
          <a:ln w="12700">
            <a:solidFill>
              <a:srgbClr val="6600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0" y="347472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idat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CABECERA (obligatoria): enruta e identifica el mensaje; establecida por el proveedor JMS o el cliente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PROPIEDADES (opcionales): pares nombre/valor para filtrar mensajes; extensión del encabezado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CUERPO (opcional): datos reales a intercambiar — 6 tipos soportados: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Message · StreamMessage · MapMessage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TextMessage · ObjectMessage · BytesMessage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C700"/>
          </a:solidFill>
          <a:ln w="12700">
            <a:solidFill>
              <a:srgbClr val="FFC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· Modelo de Programación JMS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400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Tipos de Mensajes JMS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21040" y="45720"/>
            <a:ext cx="685800" cy="914400"/>
          </a:xfrm>
          <a:prstGeom prst="rect">
            <a:avLst/>
          </a:prstGeom>
          <a:solidFill>
            <a:srgbClr val="6600CC"/>
          </a:solidFill>
          <a:ln w="12700">
            <a:solidFill>
              <a:srgbClr val="6600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0" y="347472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idat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3657600"/>
        </p:xfrm>
        <a:graphic>
          <a:graphicData uri="http://schemas.openxmlformats.org/drawingml/2006/table">
            <a:tbl>
              <a:tblPr/>
              <a:tblGrid>
                <a:gridCol w="2011680"/>
                <a:gridCol w="6400800"/>
              </a:tblGrid>
              <a:tr h="5225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00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00CC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cuerpo de mensaje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StreamMessage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Secuencia de tipos primitivos Java (lectura secuencial)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MapMessage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Pares nombre/valor (orden no definido)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TextMessage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Cadena Java (ej: XML)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ObjectMessage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Objeto Java serializado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BytesMessage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Flujo de bytes no interpretados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C700"/>
          </a:solidFill>
          <a:ln w="12700">
            <a:solidFill>
              <a:srgbClr val="FFC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· Modelo de Programación JMS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400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Esquema de Trabajo con Interfaces JMS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21040" y="45720"/>
            <a:ext cx="685800" cy="914400"/>
          </a:xfrm>
          <a:prstGeom prst="rect">
            <a:avLst/>
          </a:prstGeom>
          <a:solidFill>
            <a:srgbClr val="6600CC"/>
          </a:solidFill>
          <a:ln w="12700">
            <a:solidFill>
              <a:srgbClr val="6600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0" y="347472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idat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ConnectionFactory  →  crea  →  Connection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 →  crea  →  Session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 →  crea  →  MessageProducer y MessageConsumer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 →  crea  →  Message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MessageProducer  →  envía a  →  Destination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MessageConsumer  →  recibe de  →  Destination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C700"/>
          </a:solidFill>
          <a:ln w="12700">
            <a:solidFill>
              <a:srgbClr val="FFC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· Modelos Específicos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400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Modelos Específicos: APIs de JMS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21040" y="45720"/>
            <a:ext cx="685800" cy="914400"/>
          </a:xfrm>
          <a:prstGeom prst="rect">
            <a:avLst/>
          </a:prstGeom>
          <a:solidFill>
            <a:srgbClr val="6600CC"/>
          </a:solidFill>
          <a:ln w="12700">
            <a:solidFill>
              <a:srgbClr val="6600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0" y="347472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idat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3931920" cy="411480"/>
          </a:xfrm>
          <a:prstGeom prst="rect">
            <a:avLst/>
          </a:prstGeom>
          <a:solidFill>
            <a:srgbClr val="6600CC"/>
          </a:solidFill>
          <a:ln w="12700">
            <a:solidFill>
              <a:srgbClr val="6600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972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Punto a Punto (Cola)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554480"/>
            <a:ext cx="39319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QueueConnectionFactory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QueueConnection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QueueSession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QueueSender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QueueReceiver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3931920" cy="411480"/>
          </a:xfrm>
          <a:prstGeom prst="rect">
            <a:avLst/>
          </a:prstGeom>
          <a:solidFill>
            <a:srgbClr val="FFC700"/>
          </a:solidFill>
          <a:ln w="12700">
            <a:solidFill>
              <a:srgbClr val="FFC7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0972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Publicación/Suscripción (Tópico)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1554480"/>
            <a:ext cx="39319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TopicConnectionFactory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TopicConnection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TopicSession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TopicPublisher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TopicSubscriber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C700"/>
          </a:solidFill>
          <a:ln w="12700">
            <a:solidFill>
              <a:srgbClr val="FFC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· Apache ActiveMQ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400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Apache ActiveMQ – Proveedor JMS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21040" y="45720"/>
            <a:ext cx="685800" cy="914400"/>
          </a:xfrm>
          <a:prstGeom prst="rect">
            <a:avLst/>
          </a:prstGeom>
          <a:solidFill>
            <a:srgbClr val="6600CC"/>
          </a:solidFill>
          <a:ln w="12700">
            <a:solidFill>
              <a:srgbClr val="6600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0" y="347472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idat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Bróker de mensajería de código abierto de Apache, escrito en Java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 la especificación JMS completa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Traduce, dirige, persiste y entrega mensajes entre productor y consumidor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Actúa como middleware de mensajería para grandes infraestructuras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Alternativas: RabbitMQ, IBM MQ, JBoss Messaging, SonicMQ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web de administración: http://127.0.0.1:8161/admin (admin/admin)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C700"/>
          </a:solidFill>
          <a:ln w="12700">
            <a:solidFill>
              <a:srgbClr val="FFC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· Implementación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400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Configuración del Proyecto Spring Boot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21040" y="45720"/>
            <a:ext cx="685800" cy="914400"/>
          </a:xfrm>
          <a:prstGeom prst="rect">
            <a:avLst/>
          </a:prstGeom>
          <a:solidFill>
            <a:srgbClr val="6600CC"/>
          </a:solidFill>
          <a:ln w="12700">
            <a:solidFill>
              <a:srgbClr val="6600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0" y="347472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idat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IDE: Spring Tool Suite (STS)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proyecto con Spring Starter Project (File &gt; New)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Nombre: activemq | Group: pe.edu.idat | Packaging: Jar | Java 8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principal: Spring for Apache ActiveMQ 5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adicional: Gson (com.google.code.gson)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application.properties: URL TCP, usuario y contraseña de ActiveMQ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C700"/>
          </a:solidFill>
          <a:ln w="12700">
            <a:solidFill>
              <a:srgbClr val="FFC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· Implementación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400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Configuración application.properties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21040" y="45720"/>
            <a:ext cx="685800" cy="914400"/>
          </a:xfrm>
          <a:prstGeom prst="rect">
            <a:avLst/>
          </a:prstGeom>
          <a:solidFill>
            <a:srgbClr val="6600CC"/>
          </a:solidFill>
          <a:ln w="12700">
            <a:solidFill>
              <a:srgbClr val="6600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0" y="347472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idat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374904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88720"/>
            <a:ext cx="8229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spring.activemq.broker-url=tcp://localhost:61616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spring.activemq.user=admin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spring.activemq.password=admin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C700"/>
          </a:solidFill>
          <a:ln w="12700">
            <a:solidFill>
              <a:srgbClr val="FFC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· Implementación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400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Clase Listener – @JmsListener + @SendTo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21040" y="45720"/>
            <a:ext cx="685800" cy="914400"/>
          </a:xfrm>
          <a:prstGeom prst="rect">
            <a:avLst/>
          </a:prstGeom>
          <a:solidFill>
            <a:srgbClr val="6600CC"/>
          </a:solidFill>
          <a:ln w="12700">
            <a:solidFill>
              <a:srgbClr val="6600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0" y="347472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idat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374904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88720"/>
            <a:ext cx="8229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@Component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Listener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@JmsListener(destination = "inbound.queue")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@SendTo("outbound.queue")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String receiveMessage(final Message mensajeJson) throws JMSException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(mensajeJson instanceof TextMessage)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TextMessage texto = (TextMessage) mensajeJson;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Map map = new Gson().fromJson(texto.getText(), Map.class);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"Hola " + map.get("nombre");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null;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C700"/>
          </a:solidFill>
          <a:ln w="12700">
            <a:solidFill>
              <a:srgbClr val="FFC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· Implementación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400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Clase Producer – JmsTemplate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21040" y="45720"/>
            <a:ext cx="685800" cy="914400"/>
          </a:xfrm>
          <a:prstGeom prst="rect">
            <a:avLst/>
          </a:prstGeom>
          <a:solidFill>
            <a:srgbClr val="6600CC"/>
          </a:solidFill>
          <a:ln w="12700">
            <a:solidFill>
              <a:srgbClr val="6600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0" y="347472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idat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374904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88720"/>
            <a:ext cx="8229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@Component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Producer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@Autowired JmsTemplate jmsTemplate;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sendMessage(String nombreCola, String mensaje)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Map map = new Gson().fromJson(mensaje, Map.class);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texto = "Hola " + map.get("nombre");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jmsTemplate.send(nombreCola, session -&gt;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TextMessage msg = session.createTextMessage();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msg;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C700"/>
          </a:solidFill>
          <a:ln w="12700">
            <a:solidFill>
              <a:srgbClr val="FFC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· Implementación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400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Clase Principal – @EnableJms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21040" y="45720"/>
            <a:ext cx="685800" cy="914400"/>
          </a:xfrm>
          <a:prstGeom prst="rect">
            <a:avLst/>
          </a:prstGeom>
          <a:solidFill>
            <a:srgbClr val="6600CC"/>
          </a:solidFill>
          <a:ln w="12700">
            <a:solidFill>
              <a:srgbClr val="6600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0" y="347472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idat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374904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88720"/>
            <a:ext cx="8229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@SpringBootApplication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@EnableJms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ActivemqApplication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static void main(String[] args)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SpringApplication.run(ActivemqApplication.class, args);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6600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Aplicación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48640" y="44805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D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práctico y actividad reto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0" y="4389120"/>
            <a:ext cx="731520" cy="548640"/>
          </a:xfrm>
          <a:prstGeom prst="rect">
            <a:avLst/>
          </a:prstGeom>
          <a:solidFill>
            <a:srgbClr val="FFC700"/>
          </a:solidFill>
          <a:ln w="12700">
            <a:solidFill>
              <a:srgbClr val="FFC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4348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600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idat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C700"/>
          </a:solidFill>
          <a:ln w="12700">
            <a:solidFill>
              <a:srgbClr val="FFC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· Pruebas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400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 Probar la Aplicación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21040" y="45720"/>
            <a:ext cx="685800" cy="914400"/>
          </a:xfrm>
          <a:prstGeom prst="rect">
            <a:avLst/>
          </a:prstGeom>
          <a:solidFill>
            <a:srgbClr val="6600CC"/>
          </a:solidFill>
          <a:ln w="12700">
            <a:solidFill>
              <a:srgbClr val="6600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0" y="347472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idat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Iniciar ActiveMQ: ejecutar activemq.bat desde /bin/win64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Acceder a consola web: http://127.0.0.1:8161/admin (admin/admin)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Verificar que no existen colas en la sección Queues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Ejecutar la aplicación como Java Application en STS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Actualizar vista de colas → aparece 'inbound.queue' con 1 consumidor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Ir a Send To, ingresar JSON {"nombre":"Karla"} y hacer clic en Send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Verificar en la consola de STS el log del mensaje recibido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Actualizar colas → aparece 'outbound.queue' con 1 mensaje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6600CC"/>
          </a:solidFill>
          <a:ln w="12700">
            <a:solidFill>
              <a:srgbClr val="6600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C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· Actividad Reto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Actividad Reto – JMS con ActiveMQ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21040" y="45720"/>
            <a:ext cx="685800" cy="914400"/>
          </a:xfrm>
          <a:prstGeom prst="rect">
            <a:avLst/>
          </a:prstGeom>
          <a:solidFill>
            <a:srgbClr val="FFC700"/>
          </a:solidFill>
          <a:ln w="12700">
            <a:solidFill>
              <a:srgbClr val="FFC7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0" y="347472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600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idat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40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Enunciado: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 un sistema de punto a punto (colas) que envíe y reciba los datos de una entidad en formato JSON utilizando JMS y ActiveMQ.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0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Evidencias a entregar: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Capturas de pantalla del proyecto en STS (estructura de paquetes y clases)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de la consola web de ActiveMQ mostrando las colas creadas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del log de la consola mostrando el mensaje recibido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fuente del proyecto (repositorio Git o comprimido)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6600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Término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48640" y="44805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D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· Checklist · Preguntas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0" y="4389120"/>
            <a:ext cx="731520" cy="548640"/>
          </a:xfrm>
          <a:prstGeom prst="rect">
            <a:avLst/>
          </a:prstGeom>
          <a:solidFill>
            <a:srgbClr val="FFC700"/>
          </a:solidFill>
          <a:ln w="12700">
            <a:solidFill>
              <a:srgbClr val="FFC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4348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600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idat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C700"/>
          </a:solidFill>
          <a:ln w="12700">
            <a:solidFill>
              <a:srgbClr val="FFC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Término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400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Resumen de la Sesión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321040" y="45720"/>
            <a:ext cx="685800" cy="914400"/>
          </a:xfrm>
          <a:prstGeom prst="rect">
            <a:avLst/>
          </a:prstGeom>
          <a:solidFill>
            <a:srgbClr val="6600CC"/>
          </a:solidFill>
          <a:ln w="12700">
            <a:solidFill>
              <a:srgbClr val="6600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0" y="347472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idat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JMS: API estándar de mensajería empresarial asíncrona para Java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Modelos: Punto a Punto (cola) y Publicación/Suscripción (tópico)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Elementos: Cliente, Productor, Consumidor, Proveedor, Mensaje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Estructura del mensaje: Cabecera + Propiedades + Cuerpo (6 tipos)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Apache ActiveMQ: bróker JMS open-source; interfaz web en :8161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Spring Boot + @JmsListener + @SendTo + @EnableJms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6600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¿Preguntas?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C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Gracias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046720" y="4389120"/>
            <a:ext cx="914400" cy="640080"/>
          </a:xfrm>
          <a:prstGeom prst="rect">
            <a:avLst/>
          </a:prstGeom>
          <a:solidFill>
            <a:srgbClr val="FFC700"/>
          </a:solidFill>
          <a:ln w="12700">
            <a:solidFill>
              <a:srgbClr val="FFC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4805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00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idat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JMS - Guia 4 - 120min IDAT</dc:title>
  <dc:subject>PptxGenJS Presentation</dc:subject>
  <dc:creator>PptxGenJS</dc:creator>
  <cp:lastModifiedBy>PptxGenJS</cp:lastModifiedBy>
  <cp:revision>1</cp:revision>
  <dcterms:created xsi:type="dcterms:W3CDTF">2026-06-04T22:11:10Z</dcterms:created>
  <dcterms:modified xsi:type="dcterms:W3CDTF">2026-06-04T22:11:10Z</dcterms:modified>
</cp:coreProperties>
</file>