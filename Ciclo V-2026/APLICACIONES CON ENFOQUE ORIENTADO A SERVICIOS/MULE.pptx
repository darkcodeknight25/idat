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562" r:id="rId6"/>
    <p:sldId id="563" r:id="rId7"/>
    <p:sldId id="564" r:id="rId8"/>
    <p:sldId id="565" r:id="rId9"/>
    <p:sldId id="567" r:id="rId10"/>
    <p:sldId id="611" r:id="rId11"/>
    <p:sldId id="612" r:id="rId12"/>
    <p:sldId id="613" r:id="rId13"/>
    <p:sldId id="616" r:id="rId14"/>
    <p:sldId id="614" r:id="rId15"/>
    <p:sldId id="615" r:id="rId16"/>
    <p:sldId id="555" r:id="rId17"/>
    <p:sldId id="570" r:id="rId18"/>
    <p:sldId id="556" r:id="rId19"/>
    <p:sldId id="619" r:id="rId20"/>
    <p:sldId id="609" r:id="rId21"/>
    <p:sldId id="617" r:id="rId22"/>
    <p:sldId id="618" r:id="rId23"/>
    <p:sldId id="584" r:id="rId24"/>
    <p:sldId id="559" r:id="rId25"/>
    <p:sldId id="587" r:id="rId26"/>
    <p:sldId id="265" r:id="rId27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Muller Regular"/>
      <p:regular r:id="rId32"/>
    </p:embeddedFont>
    <p:embeddedFont>
      <p:font typeface="Stag Book" panose="02000503060000020004" pitchFamily="2" charset="77"/>
      <p:regular r:id="rId33"/>
      <p:italic r:id="rId34"/>
    </p:embeddedFont>
    <p:embeddedFont>
      <p:font typeface="Stag Light" panose="02000603060000020004" pitchFamily="2" charset="77"/>
      <p:regular r:id="rId35"/>
      <p:italic r:id="rId36"/>
    </p:embeddedFont>
    <p:embeddedFont>
      <p:font typeface="Stag Medium" panose="02000603060000020004" pitchFamily="2" charset="77"/>
      <p:regular r:id="rId37"/>
      <p:italic r:id="rId38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10/07/25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Mule ESB I y II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5108138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¿Qué es MEL?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Lenguaje ligero específico de Mule.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Permite acceder a payload, variables, propiedades y excepciones.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199" y="1181102"/>
            <a:ext cx="7684169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s-419" sz="2800" dirty="0">
                <a:latin typeface="Stag Medium" panose="02000603060000020004" pitchFamily="50" charset="0"/>
              </a:rPr>
              <a:t>Cuáles son los tipos de variables</a:t>
            </a:r>
            <a:r>
              <a:rPr lang="en-US" sz="2800" dirty="0">
                <a:latin typeface="Stag Medium" panose="02000603060000020004" pitchFamily="50" charset="0"/>
              </a:rPr>
              <a:t>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4681ACA-205F-0184-B329-8EFA77BA67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1183172"/>
              </p:ext>
            </p:extLst>
          </p:nvPr>
        </p:nvGraphicFramePr>
        <p:xfrm>
          <a:off x="838198" y="3293366"/>
          <a:ext cx="9956802" cy="332685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548020">
                  <a:extLst>
                    <a:ext uri="{9D8B030D-6E8A-4147-A177-3AD203B41FA5}">
                      <a16:colId xmlns:a16="http://schemas.microsoft.com/office/drawing/2014/main" val="2096673807"/>
                    </a:ext>
                  </a:extLst>
                </a:gridCol>
                <a:gridCol w="6408782">
                  <a:extLst>
                    <a:ext uri="{9D8B030D-6E8A-4147-A177-3AD203B41FA5}">
                      <a16:colId xmlns:a16="http://schemas.microsoft.com/office/drawing/2014/main" val="2324929766"/>
                    </a:ext>
                  </a:extLst>
                </a:gridCol>
              </a:tblGrid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payload</a:t>
                      </a:r>
                      <a:endParaRPr lang="es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Contenido del mensaje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790016"/>
                  </a:ext>
                </a:extLst>
              </a:tr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flowVars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Variables temporales por flujo</a:t>
                      </a:r>
                      <a:endParaRPr lang="es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34885"/>
                  </a:ext>
                </a:extLst>
              </a:tr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sessionVars</a:t>
                      </a:r>
                      <a:endParaRPr lang="es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Variables disponibles en todos los flujos</a:t>
                      </a:r>
                      <a:endParaRPr lang="es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630233"/>
                  </a:ext>
                </a:extLst>
              </a:tr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exception</a:t>
                      </a:r>
                      <a:endParaRPr lang="es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Información sobre errores</a:t>
                      </a:r>
                      <a:endParaRPr lang="es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809118"/>
                  </a:ext>
                </a:extLst>
              </a:tr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inbound 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Datos de cabecera de entrada</a:t>
                      </a:r>
                      <a:endParaRPr lang="es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975908"/>
                  </a:ext>
                </a:extLst>
              </a:tr>
              <a:tr h="5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outbound properties</a:t>
                      </a:r>
                      <a:endParaRPr lang="es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 dirty="0"/>
                        <a:t>Datos que se envían a otros sistemas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95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6975" y="2254384"/>
            <a:ext cx="8636445" cy="4085906"/>
          </a:xfrm>
        </p:spPr>
        <p:txBody>
          <a:bodyPr>
            <a:normAutofit lnSpcReduction="10000"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Uso de componentes básicos </a:t>
            </a:r>
          </a:p>
          <a:p>
            <a:endParaRPr lang="es-419" sz="1900" dirty="0"/>
          </a:p>
          <a:p>
            <a:r>
              <a:rPr lang="es-US" sz="1900" dirty="0"/>
              <a:t>Ejemplo: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Arrastrar componente HTTP Listener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Configurar host, puerto y path (/base/ejemplo)</a:t>
            </a:r>
          </a:p>
          <a:p>
            <a:r>
              <a:rPr lang="es-US" sz="1900" dirty="0"/>
              <a:t>Agregar: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Session Variable</a:t>
            </a:r>
            <a:endParaRPr lang="es-419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Logger</a:t>
            </a:r>
            <a:endParaRPr lang="es-419" sz="1900" dirty="0"/>
          </a:p>
          <a:p>
            <a:r>
              <a:rPr lang="es-US" sz="1900" dirty="0"/>
              <a:t>Resultado: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S" sz="1900" dirty="0"/>
              <a:t>Se ejecuta el flujo y se visualizan los logs desde el navegador o consola</a:t>
            </a:r>
          </a:p>
          <a:p>
            <a:endParaRPr lang="es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7079979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Flujos y colas de mensajerías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s-419" sz="2000" dirty="0"/>
          </a:p>
          <a:p>
            <a:r>
              <a:rPr lang="es-US" sz="1800" dirty="0"/>
              <a:t>Tipos de flujos: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flow: Inicia ejecución y puede manejar excepciones.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subflow: Se ejecuta desde otro flujo, sin manejo de excepciones propio.</a:t>
            </a:r>
          </a:p>
          <a:p>
            <a:br>
              <a:rPr lang="es-US" sz="1800" dirty="0"/>
            </a:br>
            <a:endParaRPr lang="es-US" sz="1800" dirty="0"/>
          </a:p>
          <a:p>
            <a:r>
              <a:rPr lang="es-US" sz="1800" dirty="0"/>
              <a:t>Tipos de colas: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JMS: Comunicación con otras aplicaciones usando colas.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VM: Comunicación interna en la misma aplicación Mule.</a:t>
            </a:r>
          </a:p>
          <a:p>
            <a:endParaRPr lang="es-US" sz="1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35788" y="2254384"/>
            <a:ext cx="5007875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 con colas y VM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Agregar segundo Flow debajo del primero.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Conectar ambos mediante VM connector.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En el segundo flujo, mostrar variable de sesión con Logger.</a:t>
            </a:r>
          </a:p>
          <a:p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 fontScale="92500"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Enviar mensaje a cola JMS</a:t>
            </a:r>
            <a:endParaRPr lang="es-ES" sz="2800" dirty="0">
              <a:latin typeface="Stag Medium" panose="0200060306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1800" dirty="0"/>
          </a:p>
          <a:p>
            <a:r>
              <a:rPr lang="es-US" sz="1800" dirty="0"/>
              <a:t>Iniciar Apache ActiveMQ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Crear cola desde interfaz web</a:t>
            </a:r>
          </a:p>
          <a:p>
            <a:r>
              <a:rPr lang="es-US" sz="1800" dirty="0"/>
              <a:t>En Mule: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Agregar HTTP Listener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Agregar Logger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Agregar JMS connector (queue: ejemploCola)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Configurar ActiveMQ (host: tcp://localhost:61616, user: admin)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Enviar mensaje JSON desde Postman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Verificar consola y contenido de la cola</a:t>
            </a:r>
          </a:p>
          <a:p>
            <a:endParaRPr lang="en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Consumir mensaje desde cola JMS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s-419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Crear nuevo flujo con JMS Listener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Usar misma queue: ejemploCola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Agregar Logger para imprimir el 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Ejecutar y validar consumo de mensajes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Verificar que la cola queda vacía en ActiveMQ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1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 lnSpcReduction="10000"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Manejo de Excepciones</a:t>
            </a:r>
            <a:endParaRPr lang="es-419" sz="2000" dirty="0"/>
          </a:p>
          <a:p>
            <a:endParaRPr lang="es-419" sz="1400" dirty="0"/>
          </a:p>
          <a:p>
            <a:r>
              <a:rPr lang="es-US" sz="1800" dirty="0"/>
              <a:t>Mule ESB permite manejar errores mediante estrategias de excepción: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Tipos de excepciones:</a:t>
            </a:r>
          </a:p>
          <a:p>
            <a:r>
              <a:rPr lang="es-US" sz="1800" dirty="0"/>
              <a:t>Sistema: errores internos sin mensaje.</a:t>
            </a:r>
          </a:p>
          <a:p>
            <a:r>
              <a:rPr lang="es-US" sz="1800" dirty="0"/>
              <a:t>Mensajería: errores durante el procesamiento de flujos.</a:t>
            </a:r>
          </a:p>
          <a:p>
            <a:br>
              <a:rPr lang="es-US" sz="1800" dirty="0"/>
            </a:br>
            <a:endParaRPr lang="es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Cuando ocurre una excepción:</a:t>
            </a:r>
          </a:p>
          <a:p>
            <a:r>
              <a:rPr lang="es-US" sz="1800" dirty="0"/>
              <a:t>Se detiene la ejecución normal.</a:t>
            </a:r>
          </a:p>
          <a:p>
            <a:r>
              <a:rPr lang="es-US" sz="1800" dirty="0"/>
              <a:t>El flujo salta a la sección de manejo de errores.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1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Ejemplo de estrategia de excepciones</a:t>
            </a:r>
            <a:endParaRPr lang="es-419" sz="2000" dirty="0"/>
          </a:p>
          <a:p>
            <a:endParaRPr lang="es-419" sz="1800" dirty="0"/>
          </a:p>
          <a:p>
            <a:r>
              <a:rPr lang="es-US" sz="1800" dirty="0"/>
              <a:t>Pasos: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Crear flujo con HTTP Listener y Logger.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Crear clase Util.java con método que lanza una excepción.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Usar componente Invoke para llamar al método.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Agregar Catch Exception Strategy.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Dentro de Catch, agregar Logger para mostrar el error.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Ejecutar, probar vía Postman y verificar consola.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2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8182875" cy="4603616"/>
          </a:xfrm>
        </p:spPr>
        <p:txBody>
          <a:bodyPr>
            <a:normAutofit lnSpcReduction="10000"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Despliegue en Mule StandAlone</a:t>
            </a:r>
            <a:endParaRPr lang="es-419" sz="2000" dirty="0"/>
          </a:p>
          <a:p>
            <a:endParaRPr lang="es-419" sz="1800" dirty="0"/>
          </a:p>
          <a:p>
            <a:r>
              <a:rPr lang="es-US" sz="1800" dirty="0"/>
              <a:t>¿Por qué usar Mule StandAlone?</a:t>
            </a:r>
          </a:p>
          <a:p>
            <a:r>
              <a:rPr lang="es-US" sz="1800" dirty="0"/>
              <a:t>Ideal para ambientes de producción.</a:t>
            </a:r>
          </a:p>
          <a:p>
            <a:r>
              <a:rPr lang="es-US" sz="1800" dirty="0"/>
              <a:t>No requiere Anypoint Studio para correr la aplicación.</a:t>
            </a:r>
          </a:p>
          <a:p>
            <a:br>
              <a:rPr lang="es-US" sz="1800" dirty="0"/>
            </a:br>
            <a:endParaRPr lang="es-US" sz="1800" dirty="0"/>
          </a:p>
          <a:p>
            <a:r>
              <a:rPr lang="es-US" sz="1800" dirty="0"/>
              <a:t>Pasos de despliegue: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Exportar proyecto como ZIP desde Anypoint Studio.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Copiar el ZIP a la carpeta apps de Mule StandAlone.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Ejecutar mule.bat desde la carpeta /bin.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Verificar la consola: el proyecto debe aparecer como desplegado.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Probar usando navegador o Postman.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09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8450243" cy="4603616"/>
          </a:xfrm>
        </p:spPr>
        <p:txBody>
          <a:bodyPr>
            <a:normAutofit lnSpcReduction="10000"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Consumo de servicios SOAP</a:t>
            </a:r>
            <a:endParaRPr lang="es-419" sz="2000" dirty="0"/>
          </a:p>
          <a:p>
            <a:endParaRPr lang="es-419" sz="1400" dirty="0"/>
          </a:p>
          <a:p>
            <a:r>
              <a:rPr lang="es-US" sz="1900" dirty="0"/>
              <a:t>Caso: servicio SOAP para buscar vehículo por placa.</a:t>
            </a:r>
            <a:endParaRPr lang="es-419" sz="1900" dirty="0"/>
          </a:p>
          <a:p>
            <a:r>
              <a:rPr lang="es-US" sz="1900" dirty="0"/>
              <a:t>Pasos:</a:t>
            </a:r>
          </a:p>
          <a:p>
            <a:r>
              <a:rPr lang="es-419" sz="1900" dirty="0"/>
              <a:t>1. </a:t>
            </a:r>
            <a:r>
              <a:rPr lang="es-US" sz="1900" dirty="0"/>
              <a:t>Crear archivo vehiculoRequest con plantilla del request.</a:t>
            </a:r>
          </a:p>
          <a:p>
            <a:r>
              <a:rPr lang="es-419" sz="1900" dirty="0"/>
              <a:t>2. </a:t>
            </a:r>
            <a:r>
              <a:rPr lang="es-US" sz="1900" dirty="0"/>
              <a:t>Agregar componentes:</a:t>
            </a:r>
          </a:p>
          <a:p>
            <a:r>
              <a:rPr lang="es-US" sz="1900" dirty="0"/>
              <a:t>HTTP Listener</a:t>
            </a:r>
          </a:p>
          <a:p>
            <a:r>
              <a:rPr lang="es-US" sz="1900" dirty="0"/>
              <a:t>Parse Template</a:t>
            </a:r>
          </a:p>
          <a:p>
            <a:r>
              <a:rPr lang="es-US" sz="1900" dirty="0"/>
              <a:t>Web Service Consumer</a:t>
            </a:r>
          </a:p>
          <a:p>
            <a:r>
              <a:rPr lang="es-419" sz="1900" dirty="0"/>
              <a:t>3. </a:t>
            </a:r>
            <a:r>
              <a:rPr lang="es-US" sz="1900" dirty="0"/>
              <a:t>Configurar WSDL en el conector.</a:t>
            </a:r>
          </a:p>
          <a:p>
            <a:r>
              <a:rPr lang="es-419" sz="1900" dirty="0"/>
              <a:t>4. </a:t>
            </a:r>
            <a:r>
              <a:rPr lang="es-US" sz="1900" dirty="0"/>
              <a:t>Seleccionar operación: getVehiculo.</a:t>
            </a:r>
          </a:p>
          <a:p>
            <a:r>
              <a:rPr lang="es-419" sz="1900" dirty="0"/>
              <a:t>5. </a:t>
            </a:r>
            <a:r>
              <a:rPr lang="es-US" sz="1900" dirty="0"/>
              <a:t>Ejecutar en Mule StandAlone y probar desde Postman.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8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3178" y="2379579"/>
            <a:ext cx="9506765" cy="4059734"/>
          </a:xfrm>
        </p:spPr>
        <p:txBody>
          <a:bodyPr>
            <a:normAutofit fontScale="25000" lnSpcReduction="20000"/>
          </a:bodyPr>
          <a:lstStyle/>
          <a:p>
            <a:r>
              <a:rPr lang="es-419" sz="11200" dirty="0">
                <a:latin typeface="Stag Medium" panose="02000603060000020004" pitchFamily="50" charset="0"/>
              </a:rPr>
              <a:t>Consumo de servicios REST</a:t>
            </a:r>
            <a:endParaRPr lang="es-419" sz="11200" dirty="0"/>
          </a:p>
          <a:p>
            <a:endParaRPr lang="es-419" sz="1400" dirty="0"/>
          </a:p>
          <a:p>
            <a:r>
              <a:rPr lang="es-US" sz="7200" dirty="0"/>
              <a:t>Caso: servicio REST recibe un objeto y responde con info de vehículo.</a:t>
            </a:r>
            <a:endParaRPr lang="es-419" sz="7200" dirty="0"/>
          </a:p>
          <a:p>
            <a:r>
              <a:rPr lang="es-US" sz="7200" dirty="0"/>
              <a:t>Pasos:</a:t>
            </a:r>
          </a:p>
          <a:p>
            <a:r>
              <a:rPr lang="es-419" sz="7200" dirty="0"/>
              <a:t>1. </a:t>
            </a:r>
            <a:r>
              <a:rPr lang="es-US" sz="7200" dirty="0"/>
              <a:t>Crear clases:</a:t>
            </a:r>
          </a:p>
          <a:p>
            <a:r>
              <a:rPr lang="es-US" sz="7200" dirty="0"/>
              <a:t>DatosBean.java</a:t>
            </a:r>
          </a:p>
          <a:p>
            <a:r>
              <a:rPr lang="es-US" sz="7200" dirty="0"/>
              <a:t>Identificacion.java</a:t>
            </a:r>
          </a:p>
          <a:p>
            <a:r>
              <a:rPr lang="es-US" sz="7200" dirty="0"/>
              <a:t>Util.java con método para simular entrada</a:t>
            </a:r>
          </a:p>
          <a:p>
            <a:r>
              <a:rPr lang="es-419" sz="7200" dirty="0"/>
              <a:t>2. </a:t>
            </a:r>
            <a:r>
              <a:rPr lang="es-US" sz="7200" dirty="0"/>
              <a:t>Crear flujo con:</a:t>
            </a:r>
          </a:p>
          <a:p>
            <a:r>
              <a:rPr lang="es-US" sz="7200" dirty="0"/>
              <a:t>HTTP Listener</a:t>
            </a:r>
          </a:p>
          <a:p>
            <a:r>
              <a:rPr lang="es-US" sz="7200" dirty="0"/>
              <a:t>Invoke</a:t>
            </a:r>
          </a:p>
          <a:p>
            <a:r>
              <a:rPr lang="es-US" sz="7200" dirty="0"/>
              <a:t>Object to JSON</a:t>
            </a:r>
          </a:p>
          <a:p>
            <a:r>
              <a:rPr lang="es-US" sz="7200" dirty="0"/>
              <a:t>Logger</a:t>
            </a:r>
          </a:p>
          <a:p>
            <a:r>
              <a:rPr lang="es-US" sz="7200" dirty="0"/>
              <a:t>HTTP Request para invocar el servicio REST</a:t>
            </a:r>
          </a:p>
          <a:p>
            <a:r>
              <a:rPr lang="es-419" sz="7200" dirty="0"/>
              <a:t>3. </a:t>
            </a:r>
            <a:r>
              <a:rPr lang="es-US" sz="7200" dirty="0"/>
              <a:t>Configurar POST y probar.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Mule ESB I y II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SOAP: Calculadora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1800" dirty="0"/>
          </a:p>
          <a:p>
            <a:r>
              <a:rPr lang="es-419" sz="1800" dirty="0"/>
              <a:t>Requisitos</a:t>
            </a:r>
            <a:endParaRPr lang="es-US" sz="1800" dirty="0"/>
          </a:p>
          <a:p>
            <a:r>
              <a:rPr lang="es-US" sz="1800" dirty="0"/>
              <a:t>Servicio: http://www.dneonline.com/calculator.asmx</a:t>
            </a:r>
          </a:p>
          <a:p>
            <a:r>
              <a:rPr lang="es-US" sz="1800" dirty="0"/>
              <a:t>WSDL: http://www.dneonline.com/calculator.asmx?WSDL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SOAP: Calculadora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1800" dirty="0"/>
          </a:p>
          <a:p>
            <a:r>
              <a:rPr lang="es-419" sz="1800" dirty="0"/>
              <a:t>Requisitos</a:t>
            </a:r>
            <a:endParaRPr lang="es-US" sz="1800" dirty="0"/>
          </a:p>
          <a:p>
            <a:r>
              <a:rPr lang="es-US" sz="1800" dirty="0"/>
              <a:t>Servicio: http://www.dneonline.com/calculator.asmx</a:t>
            </a:r>
          </a:p>
          <a:p>
            <a:r>
              <a:rPr lang="es-US" sz="1800" dirty="0"/>
              <a:t>WSDL: http://www.dneonline.com/calculator.asmx?WSDL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62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SOAP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r>
              <a:rPr lang="es-US" sz="1800" dirty="0"/>
              <a:t>Crear flujo que: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Reciba 2 números.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Invoque operación matemática vía SOAP.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Muestre resultado en Logger.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Maneje excepciones (por ejemplo, división por cero).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800" dirty="0"/>
              <a:t>Desplegar en Mule StandAlone.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7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REST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r>
              <a:rPr lang="es-US" sz="1800" dirty="0"/>
              <a:t>Servicio REST:</a:t>
            </a:r>
          </a:p>
          <a:p>
            <a:r>
              <a:rPr lang="es-US" sz="1800" dirty="0"/>
              <a:t>http://universities.hipolabs.com/search?country=United+States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6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s-419" sz="2800" dirty="0">
                <a:latin typeface="Stag Medium" panose="02000603060000020004" pitchFamily="50" charset="0"/>
              </a:rPr>
              <a:t>Actividad REST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s-419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Reciba nombre del país.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Haga GET al servicio REST.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Muestre en consola solo los nombres de las universidades.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800" dirty="0"/>
              <a:t>Desplegar en Mule StandAlone.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36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800" dirty="0"/>
              <a:t>En grupos de 2 elegir una de las 2 actividades y mostrar su proyecto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>
                <a:solidFill>
                  <a:schemeClr val="bg1"/>
                </a:solidFill>
              </a:rPr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2800" dirty="0">
              <a:latin typeface="Stag Medium" panose="02000603060000020004" pitchFamily="50" charset="0"/>
            </a:endParaRPr>
          </a:p>
          <a:p>
            <a:r>
              <a:rPr lang="es-US" sz="1400" dirty="0"/>
              <a:t>Mule permite manejar errores de forma controlada.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400" dirty="0"/>
              <a:t>El despliegue en StandAlone simula escenarios reales de producción.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400" dirty="0"/>
              <a:t>Es posible consumir tanto servicios SOAP como 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400" dirty="0"/>
              <a:t>Las pruebas se pueden automatizar con herramientas como Postman.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US" sz="1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464</Words>
  <Application>Microsoft Office PowerPoint</Application>
  <PresentationFormat>Panorámica</PresentationFormat>
  <Paragraphs>50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Actividad</vt:lpstr>
      <vt:lpstr>Inicio</vt:lpstr>
      <vt:lpstr>Inicio</vt:lpstr>
      <vt:lpstr>Inicio</vt:lpstr>
      <vt:lpstr>Inicio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Manrique Ruiz Jose Carlos</cp:lastModifiedBy>
  <cp:revision>57</cp:revision>
  <dcterms:created xsi:type="dcterms:W3CDTF">2020-07-21T23:18:10Z</dcterms:created>
  <dcterms:modified xsi:type="dcterms:W3CDTF">2025-07-11T01:34:50Z</dcterms:modified>
</cp:coreProperties>
</file>