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94" r:id="rId4"/>
    <p:sldId id="295" r:id="rId5"/>
    <p:sldId id="296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273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8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(1 línea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827213" y="3141663"/>
            <a:ext cx="5521325" cy="482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0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9623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(2 líneas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597818" y="2912265"/>
            <a:ext cx="5521325" cy="9413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30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líneas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2278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739140" y="1356361"/>
            <a:ext cx="10728960" cy="4598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5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295770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827213" y="3141663"/>
            <a:ext cx="5521325" cy="482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0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10" name="Marcador de texto 3"/>
          <p:cNvSpPr>
            <a:spLocks noGrp="1"/>
          </p:cNvSpPr>
          <p:nvPr>
            <p:ph type="body" sz="half" idx="2" hasCustomPrompt="1"/>
          </p:nvPr>
        </p:nvSpPr>
        <p:spPr>
          <a:xfrm rot="16200000">
            <a:off x="-984725" y="2952909"/>
            <a:ext cx="5521324" cy="8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la descripción breve</a:t>
            </a:r>
          </a:p>
        </p:txBody>
      </p:sp>
    </p:spTree>
    <p:extLst>
      <p:ext uri="{BB962C8B-B14F-4D97-AF65-F5344CB8AC3E}">
        <p14:creationId xmlns:p14="http://schemas.microsoft.com/office/powerpoint/2010/main" val="165542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597818" y="2912265"/>
            <a:ext cx="5521325" cy="9413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30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líneas</a:t>
            </a:r>
            <a:endParaRPr lang="es-PE" dirty="0"/>
          </a:p>
        </p:txBody>
      </p:sp>
      <p:sp>
        <p:nvSpPr>
          <p:cNvPr id="9" name="Marcador de texto 3"/>
          <p:cNvSpPr>
            <a:spLocks noGrp="1"/>
          </p:cNvSpPr>
          <p:nvPr>
            <p:ph type="body" sz="half" idx="2" hasCustomPrompt="1"/>
          </p:nvPr>
        </p:nvSpPr>
        <p:spPr>
          <a:xfrm rot="16200000">
            <a:off x="-509745" y="2952912"/>
            <a:ext cx="5521324" cy="8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la descripción breve</a:t>
            </a:r>
          </a:p>
        </p:txBody>
      </p:sp>
    </p:spTree>
    <p:extLst>
      <p:ext uri="{BB962C8B-B14F-4D97-AF65-F5344CB8AC3E}">
        <p14:creationId xmlns:p14="http://schemas.microsoft.com/office/powerpoint/2010/main" val="1499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7" name="Marcador de contenido 2"/>
          <p:cNvSpPr>
            <a:spLocks noGrp="1"/>
          </p:cNvSpPr>
          <p:nvPr>
            <p:ph idx="11"/>
          </p:nvPr>
        </p:nvSpPr>
        <p:spPr>
          <a:xfrm>
            <a:off x="6450211" y="1294764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20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295048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2"/>
          <p:cNvSpPr>
            <a:spLocks noGrp="1"/>
          </p:cNvSpPr>
          <p:nvPr>
            <p:ph idx="1"/>
          </p:nvPr>
        </p:nvSpPr>
        <p:spPr>
          <a:xfrm>
            <a:off x="739140" y="2055170"/>
            <a:ext cx="5017770" cy="389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4" name="Marcador de contenido 2"/>
          <p:cNvSpPr>
            <a:spLocks noGrp="1"/>
          </p:cNvSpPr>
          <p:nvPr>
            <p:ph idx="14"/>
          </p:nvPr>
        </p:nvSpPr>
        <p:spPr>
          <a:xfrm>
            <a:off x="6450211" y="2073905"/>
            <a:ext cx="5017770" cy="389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3" name="Marcador de texto 2"/>
          <p:cNvSpPr>
            <a:spLocks noGrp="1"/>
          </p:cNvSpPr>
          <p:nvPr>
            <p:ph type="body" idx="16"/>
          </p:nvPr>
        </p:nvSpPr>
        <p:spPr>
          <a:xfrm>
            <a:off x="739141" y="1287619"/>
            <a:ext cx="5017770" cy="5440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4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50211" y="1287619"/>
            <a:ext cx="5017770" cy="5440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5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6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309819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5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56761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739140" y="2055170"/>
            <a:ext cx="5017770" cy="3899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4" name="Marcador de contenido 2"/>
          <p:cNvSpPr>
            <a:spLocks noGrp="1"/>
          </p:cNvSpPr>
          <p:nvPr>
            <p:ph idx="11"/>
          </p:nvPr>
        </p:nvSpPr>
        <p:spPr>
          <a:xfrm>
            <a:off x="6450211" y="1294764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7" name="Subtítulo 2"/>
          <p:cNvSpPr>
            <a:spLocks noGrp="1"/>
          </p:cNvSpPr>
          <p:nvPr>
            <p:ph type="subTitle" idx="14"/>
          </p:nvPr>
        </p:nvSpPr>
        <p:spPr>
          <a:xfrm>
            <a:off x="739140" y="1294763"/>
            <a:ext cx="5017770" cy="5368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 dirty="0"/>
          </a:p>
        </p:txBody>
      </p:sp>
      <p:sp>
        <p:nvSpPr>
          <p:cNvPr id="20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33237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/>
          <p:cNvSpPr>
            <a:spLocks noGrp="1"/>
          </p:cNvSpPr>
          <p:nvPr>
            <p:ph idx="13"/>
          </p:nvPr>
        </p:nvSpPr>
        <p:spPr>
          <a:xfrm>
            <a:off x="739140" y="2055170"/>
            <a:ext cx="5017770" cy="3899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1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6450211" y="1294764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2" name="Subtítulo 2"/>
          <p:cNvSpPr>
            <a:spLocks noGrp="1"/>
          </p:cNvSpPr>
          <p:nvPr>
            <p:ph type="subTitle" idx="14"/>
          </p:nvPr>
        </p:nvSpPr>
        <p:spPr>
          <a:xfrm>
            <a:off x="739140" y="1294764"/>
            <a:ext cx="5017770" cy="5368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 dirty="0"/>
          </a:p>
        </p:txBody>
      </p:sp>
      <p:sp>
        <p:nvSpPr>
          <p:cNvPr id="26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317453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 hasCustomPrompt="1"/>
          </p:nvPr>
        </p:nvSpPr>
        <p:spPr>
          <a:xfrm>
            <a:off x="678094" y="3047742"/>
            <a:ext cx="9405706" cy="7625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60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7716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67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61" r:id="rId5"/>
    <p:sldLayoutId id="2147483652" r:id="rId6"/>
    <p:sldLayoutId id="2147483653" r:id="rId7"/>
    <p:sldLayoutId id="2147483663" r:id="rId8"/>
    <p:sldLayoutId id="2147483656" r:id="rId9"/>
    <p:sldLayoutId id="2147483657" r:id="rId10"/>
    <p:sldLayoutId id="21474836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B9B36-5BB8-4E01-9638-00C2B3F8C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2034139" y="2934736"/>
            <a:ext cx="5521325" cy="896453"/>
          </a:xfrm>
        </p:spPr>
        <p:txBody>
          <a:bodyPr>
            <a:normAutofit fontScale="90000"/>
          </a:bodyPr>
          <a:lstStyle/>
          <a:p>
            <a:r>
              <a:rPr lang="es-PE" dirty="0"/>
              <a:t>DE SARROLLO DE APLICACIONES PARA DISPOSITIVOS </a:t>
            </a:r>
            <a:r>
              <a:rPr lang="es-PE"/>
              <a:t>MÓVILES I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05911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OBJETIVO DE LA SESIÓN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397954"/>
            <a:ext cx="5462877" cy="1742726"/>
          </a:xfrm>
        </p:spPr>
        <p:txBody>
          <a:bodyPr/>
          <a:lstStyle/>
          <a:p>
            <a:pPr algn="just"/>
            <a:r>
              <a:rPr lang="es-PE" dirty="0"/>
              <a:t>Conocer los conceptos básicos de Kotlin, y realizar ejercicios prácticos que demuestren el uso del lenguaje.</a:t>
            </a:r>
          </a:p>
          <a:p>
            <a:pPr algn="just"/>
            <a:endParaRPr lang="es-PE" dirty="0"/>
          </a:p>
        </p:txBody>
      </p:sp>
      <p:pic>
        <p:nvPicPr>
          <p:cNvPr id="6" name="Picture 2" descr="Resultado de imagen para objetivo">
            <a:extLst>
              <a:ext uri="{FF2B5EF4-FFF2-40B4-BE49-F238E27FC236}">
                <a16:creationId xmlns:a16="http://schemas.microsoft.com/office/drawing/2014/main" id="{3F98F9D9-3D35-4867-82EF-4BA6A1BD7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670" y="1534742"/>
            <a:ext cx="4727311" cy="419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¿Qué es </a:t>
            </a:r>
            <a:r>
              <a:rPr lang="es-PE" dirty="0" err="1"/>
              <a:t>Firebase</a:t>
            </a:r>
            <a:r>
              <a:rPr lang="es-PE" dirty="0"/>
              <a:t>?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397953"/>
            <a:ext cx="5462877" cy="2062093"/>
          </a:xfrm>
        </p:spPr>
        <p:txBody>
          <a:bodyPr/>
          <a:lstStyle/>
          <a:p>
            <a:pPr algn="just"/>
            <a:r>
              <a:rPr lang="es-ES" dirty="0" err="1"/>
              <a:t>Firebase</a:t>
            </a:r>
            <a:r>
              <a:rPr lang="es-ES" dirty="0"/>
              <a:t> es una plataforma de Google que permite desarrollar aplicaciones </a:t>
            </a:r>
            <a:r>
              <a:rPr lang="es-ES" b="1" dirty="0"/>
              <a:t>rápidas, escalables y sin necesidad de </a:t>
            </a:r>
            <a:r>
              <a:rPr lang="es-ES" b="1" dirty="0" err="1"/>
              <a:t>backend</a:t>
            </a:r>
            <a:r>
              <a:rPr lang="es-ES" b="1" dirty="0"/>
              <a:t> tradicional</a:t>
            </a:r>
            <a:r>
              <a:rPr lang="es-ES" dirty="0"/>
              <a:t>.</a:t>
            </a:r>
            <a:endParaRPr lang="es-PE" dirty="0"/>
          </a:p>
        </p:txBody>
      </p:sp>
      <p:pic>
        <p:nvPicPr>
          <p:cNvPr id="1026" name="Picture 2" descr="Firebase Brand Guidelines">
            <a:extLst>
              <a:ext uri="{FF2B5EF4-FFF2-40B4-BE49-F238E27FC236}">
                <a16:creationId xmlns:a16="http://schemas.microsoft.com/office/drawing/2014/main" id="{E0C1D570-8745-D113-DE7F-941045FBC4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8" t="14471" r="19176" b="14703"/>
          <a:stretch>
            <a:fillRect/>
          </a:stretch>
        </p:blipFill>
        <p:spPr bwMode="auto">
          <a:xfrm>
            <a:off x="7211505" y="1270261"/>
            <a:ext cx="3751868" cy="431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84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 un </a:t>
            </a:r>
            <a:r>
              <a:rPr lang="en-US" b="1" dirty="0"/>
              <a:t>Backend as a Service (BaaS)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39" y="1414733"/>
            <a:ext cx="6304599" cy="4382218"/>
          </a:xfrm>
        </p:spPr>
        <p:txBody>
          <a:bodyPr/>
          <a:lstStyle/>
          <a:p>
            <a:r>
              <a:rPr lang="es-ES" b="1" dirty="0"/>
              <a:t>¿Qué significa esto?</a:t>
            </a:r>
          </a:p>
          <a:p>
            <a:r>
              <a:rPr lang="es-ES" dirty="0"/>
              <a:t>No necesitas crear servidor desde cero </a:t>
            </a:r>
          </a:p>
          <a:p>
            <a:r>
              <a:rPr lang="es-ES" dirty="0" err="1"/>
              <a:t>Firebase</a:t>
            </a:r>
            <a:r>
              <a:rPr lang="es-ES" dirty="0"/>
              <a:t> gestiona: </a:t>
            </a:r>
          </a:p>
          <a:p>
            <a:pPr lvl="1"/>
            <a:r>
              <a:rPr lang="es-ES" dirty="0"/>
              <a:t>Base de datos </a:t>
            </a:r>
          </a:p>
          <a:p>
            <a:pPr lvl="1"/>
            <a:r>
              <a:rPr lang="es-ES" dirty="0"/>
              <a:t>Autenticación </a:t>
            </a:r>
          </a:p>
          <a:p>
            <a:pPr lvl="1"/>
            <a:r>
              <a:rPr lang="es-ES" dirty="0"/>
              <a:t>Hosting </a:t>
            </a:r>
          </a:p>
          <a:p>
            <a:pPr lvl="1"/>
            <a:r>
              <a:rPr lang="es-ES" dirty="0"/>
              <a:t>Notificaciones</a:t>
            </a:r>
          </a:p>
          <a:p>
            <a:pPr fontAlgn="base"/>
            <a:endParaRPr lang="es-PE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BB12BC0-9D2E-914B-B84B-BA31F40AB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6" r="9648"/>
          <a:stretch/>
        </p:blipFill>
        <p:spPr bwMode="auto">
          <a:xfrm>
            <a:off x="7043738" y="2106177"/>
            <a:ext cx="4548535" cy="299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57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¿Por qué usar </a:t>
            </a:r>
            <a:r>
              <a:rPr lang="es-PE" dirty="0" err="1"/>
              <a:t>Firebase</a:t>
            </a:r>
            <a:r>
              <a:rPr lang="es-PE" dirty="0"/>
              <a:t>?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427671"/>
            <a:ext cx="5920452" cy="3920843"/>
          </a:xfrm>
        </p:spPr>
        <p:txBody>
          <a:bodyPr/>
          <a:lstStyle/>
          <a:p>
            <a:r>
              <a:rPr lang="es-ES" b="1" dirty="0"/>
              <a:t>Ventajas</a:t>
            </a:r>
          </a:p>
          <a:p>
            <a:r>
              <a:rPr lang="es-ES" dirty="0"/>
              <a:t>Desarrollo rápido (ideal para MVP) </a:t>
            </a:r>
          </a:p>
          <a:p>
            <a:r>
              <a:rPr lang="es-ES" dirty="0"/>
              <a:t>Integración sencilla con: </a:t>
            </a:r>
          </a:p>
          <a:p>
            <a:pPr lvl="1"/>
            <a:r>
              <a:rPr lang="es-ES" dirty="0"/>
              <a:t>Android </a:t>
            </a:r>
          </a:p>
          <a:p>
            <a:pPr lvl="1"/>
            <a:r>
              <a:rPr lang="es-ES" dirty="0"/>
              <a:t>iOS </a:t>
            </a:r>
          </a:p>
          <a:p>
            <a:pPr lvl="1"/>
            <a:r>
              <a:rPr lang="es-ES" dirty="0"/>
              <a:t>Web (</a:t>
            </a:r>
            <a:r>
              <a:rPr lang="es-ES" dirty="0" err="1"/>
              <a:t>React</a:t>
            </a:r>
            <a:r>
              <a:rPr lang="es-ES" dirty="0"/>
              <a:t>, </a:t>
            </a:r>
            <a:r>
              <a:rPr lang="es-ES" dirty="0" err="1"/>
              <a:t>Vue</a:t>
            </a:r>
            <a:r>
              <a:rPr lang="es-ES" dirty="0"/>
              <a:t>, Angular) </a:t>
            </a:r>
          </a:p>
          <a:p>
            <a:r>
              <a:rPr lang="es-ES" dirty="0"/>
              <a:t>Escalabilidad automática </a:t>
            </a:r>
          </a:p>
          <a:p>
            <a:r>
              <a:rPr lang="es-ES" dirty="0"/>
              <a:t>Seguridad integrada </a:t>
            </a:r>
          </a:p>
          <a:p>
            <a:pPr fontAlgn="base"/>
            <a:endParaRPr lang="es-PE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EF2FC93-DB0F-B544-9B5D-EE4F6B50A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10" t="1676" r="29245" b="1533"/>
          <a:stretch/>
        </p:blipFill>
        <p:spPr bwMode="auto">
          <a:xfrm>
            <a:off x="7211605" y="1427671"/>
            <a:ext cx="3452585" cy="400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3313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4A062-1F5C-297B-2063-D73EBD45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ADEE627-B601-C75C-799F-1CC47990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r>
              <a:rPr lang="es-PE" dirty="0"/>
              <a:t>4.1 </a:t>
            </a:r>
            <a:r>
              <a:rPr lang="es-PE" dirty="0" err="1"/>
              <a:t>Firebase</a:t>
            </a:r>
            <a:r>
              <a:rPr lang="es-PE" dirty="0"/>
              <a:t> </a:t>
            </a:r>
            <a:r>
              <a:rPr lang="es-PE" dirty="0" err="1"/>
              <a:t>Authentication</a:t>
            </a:r>
            <a:endParaRPr lang="es-PE" dirty="0"/>
          </a:p>
          <a:p>
            <a:pPr marL="514350" indent="-514350">
              <a:buFont typeface="+mj-lt"/>
              <a:buAutoNum type="arabicPeriod"/>
            </a:pPr>
            <a:r>
              <a:rPr lang="es-PE" dirty="0"/>
              <a:t>Permite autenticación rápida: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/>
              <a:t>Email/</a:t>
            </a:r>
            <a:r>
              <a:rPr lang="es-PE" dirty="0" err="1"/>
              <a:t>Password</a:t>
            </a:r>
            <a:r>
              <a:rPr lang="es-PE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/>
              <a:t>Google 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/>
              <a:t>Facebook 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/>
              <a:t>Apple</a:t>
            </a:r>
          </a:p>
          <a:p>
            <a:pPr fontAlgn="base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D44920-0D38-4007-4BEF-A42F375A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/>
          </a:bodyPr>
          <a:lstStyle/>
          <a:p>
            <a:r>
              <a:rPr lang="es-PE" sz="2100"/>
              <a:t>Servicios principales de </a:t>
            </a:r>
            <a:r>
              <a:rPr lang="es-PE" sz="2100" err="1"/>
              <a:t>Firebase</a:t>
            </a:r>
            <a:endParaRPr lang="es-PE" sz="2100"/>
          </a:p>
        </p:txBody>
      </p:sp>
      <p:pic>
        <p:nvPicPr>
          <p:cNvPr id="3074" name="Picture 2" descr="Easily add sign-in to your Android app with FirebaseUI">
            <a:extLst>
              <a:ext uri="{FF2B5EF4-FFF2-40B4-BE49-F238E27FC236}">
                <a16:creationId xmlns:a16="http://schemas.microsoft.com/office/drawing/2014/main" id="{81D7C01D-7D0C-D9E3-36E5-CF4BBA042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8397" y="1294764"/>
            <a:ext cx="2621398" cy="466026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Text Placeholder 4">
            <a:extLst>
              <a:ext uri="{FF2B5EF4-FFF2-40B4-BE49-F238E27FC236}">
                <a16:creationId xmlns:a16="http://schemas.microsoft.com/office/drawing/2014/main" id="{46AB343D-05E1-F530-0761-02BA5FD32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70A405-06EB-E039-D5CC-708B5C4CDAFB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3629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6B08-4952-F162-C9C1-E5407BF7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CF189A9-CBD3-BCFA-CCC9-C7834E45B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r>
              <a:rPr lang="es-PE" dirty="0"/>
              <a:t>4.2 </a:t>
            </a:r>
            <a:r>
              <a:rPr lang="es-PE" dirty="0" err="1"/>
              <a:t>Firestore</a:t>
            </a:r>
            <a:r>
              <a:rPr lang="es-PE" dirty="0"/>
              <a:t> </a:t>
            </a:r>
            <a:r>
              <a:rPr lang="es-PE" dirty="0" err="1"/>
              <a:t>Database</a:t>
            </a:r>
            <a:endParaRPr lang="es-PE" dirty="0"/>
          </a:p>
          <a:p>
            <a:r>
              <a:rPr lang="es-PE" dirty="0"/>
              <a:t>Base de datos NoSQL en tiempo real</a:t>
            </a:r>
          </a:p>
          <a:p>
            <a:r>
              <a:rPr lang="es-PE" dirty="0"/>
              <a:t>Estructura: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dirty="0" err="1"/>
              <a:t>Collections</a:t>
            </a:r>
            <a:r>
              <a:rPr lang="es-PE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dirty="0" err="1"/>
              <a:t>Documents</a:t>
            </a:r>
            <a:endParaRPr lang="es-PE" dirty="0"/>
          </a:p>
          <a:p>
            <a:pPr fontAlgn="base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142DA9-F8C6-4823-B691-BD8FE21D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/>
          </a:bodyPr>
          <a:lstStyle/>
          <a:p>
            <a:r>
              <a:rPr lang="es-PE" sz="2100"/>
              <a:t>Servicios principales de </a:t>
            </a:r>
            <a:r>
              <a:rPr lang="es-PE" sz="2100" err="1"/>
              <a:t>Firebase</a:t>
            </a:r>
            <a:endParaRPr lang="es-PE" sz="2100"/>
          </a:p>
        </p:txBody>
      </p:sp>
      <p:pic>
        <p:nvPicPr>
          <p:cNvPr id="2050" name="Picture 2" descr="Creating Collections | FlutterFlow Documentation">
            <a:extLst>
              <a:ext uri="{FF2B5EF4-FFF2-40B4-BE49-F238E27FC236}">
                <a16:creationId xmlns:a16="http://schemas.microsoft.com/office/drawing/2014/main" id="{329164C0-B488-6B9D-BF4F-C170C5C02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6" r="-3" b="3967"/>
          <a:stretch>
            <a:fillRect/>
          </a:stretch>
        </p:blipFill>
        <p:spPr bwMode="auto">
          <a:xfrm>
            <a:off x="6450211" y="1294764"/>
            <a:ext cx="5017770" cy="466026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Text Placeholder 4">
            <a:extLst>
              <a:ext uri="{FF2B5EF4-FFF2-40B4-BE49-F238E27FC236}">
                <a16:creationId xmlns:a16="http://schemas.microsoft.com/office/drawing/2014/main" id="{F332F81C-B958-88AF-100E-8008835C5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7F6659-0E9A-BA9F-DBE1-28A17EC4E3BD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 dirty="0"/>
              <a:t> 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057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3B42-0503-824C-02CD-068B69D4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01FD5BC-DDBC-3368-0519-58EE0348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r>
              <a:rPr lang="es-PE" dirty="0"/>
              <a:t>4.3 Cloud </a:t>
            </a:r>
            <a:r>
              <a:rPr lang="es-PE" dirty="0" err="1"/>
              <a:t>Functions</a:t>
            </a:r>
            <a:endParaRPr lang="es-PE" dirty="0"/>
          </a:p>
          <a:p>
            <a:r>
              <a:rPr lang="es-ES" dirty="0"/>
              <a:t>Se ejecutan automáticamente cuando ocurre un evento: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Usuario registrado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Documento creado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HTTP </a:t>
            </a:r>
            <a:r>
              <a:rPr lang="es-ES" dirty="0" err="1"/>
              <a:t>request</a:t>
            </a:r>
            <a:endParaRPr lang="es-ES" dirty="0"/>
          </a:p>
          <a:p>
            <a:pPr fontAlgn="base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5F47D2-C88D-BE13-EC27-144936233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/>
          </a:bodyPr>
          <a:lstStyle/>
          <a:p>
            <a:r>
              <a:rPr lang="es-PE" sz="2100"/>
              <a:t>Servicios principales de </a:t>
            </a:r>
            <a:r>
              <a:rPr lang="es-PE" sz="2100" err="1"/>
              <a:t>Firebase</a:t>
            </a:r>
            <a:endParaRPr lang="es-PE" sz="2100"/>
          </a:p>
        </p:txBody>
      </p:sp>
      <p:pic>
        <p:nvPicPr>
          <p:cNvPr id="4098" name="Picture 2" descr="What can you do with Cloud Functions? | Cloud Functions for Firebase">
            <a:extLst>
              <a:ext uri="{FF2B5EF4-FFF2-40B4-BE49-F238E27FC236}">
                <a16:creationId xmlns:a16="http://schemas.microsoft.com/office/drawing/2014/main" id="{C204A077-91D8-B5A9-4CC9-72E2C5929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0211" y="2213649"/>
            <a:ext cx="5017770" cy="282249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4">
            <a:extLst>
              <a:ext uri="{FF2B5EF4-FFF2-40B4-BE49-F238E27FC236}">
                <a16:creationId xmlns:a16="http://schemas.microsoft.com/office/drawing/2014/main" id="{F183D177-381D-71F4-F021-DEF5197BD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F1FA0D-477A-5EF9-0D67-240C125BD0FF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 dirty="0"/>
              <a:t> 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313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4995-8957-DD19-D376-24C507A3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45C0CF7-2175-376B-AD30-6E5628350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r>
              <a:rPr lang="es-PE" dirty="0"/>
              <a:t>4.4 </a:t>
            </a:r>
            <a:r>
              <a:rPr lang="es-PE" dirty="0" err="1"/>
              <a:t>Firebase</a:t>
            </a:r>
            <a:r>
              <a:rPr lang="es-PE" dirty="0"/>
              <a:t> Hosting</a:t>
            </a:r>
          </a:p>
          <a:p>
            <a:r>
              <a:rPr lang="es-PE" dirty="0"/>
              <a:t>Permite desplegar:</a:t>
            </a:r>
          </a:p>
          <a:p>
            <a:r>
              <a:rPr lang="es-PE" dirty="0"/>
              <a:t>Webs </a:t>
            </a:r>
          </a:p>
          <a:p>
            <a:r>
              <a:rPr lang="es-PE" dirty="0" err="1"/>
              <a:t>SPAs</a:t>
            </a:r>
            <a:r>
              <a:rPr lang="es-PE" dirty="0"/>
              <a:t> (</a:t>
            </a:r>
            <a:r>
              <a:rPr lang="es-PE" dirty="0" err="1"/>
              <a:t>React</a:t>
            </a:r>
            <a:r>
              <a:rPr lang="es-PE" dirty="0"/>
              <a:t>, Angular, </a:t>
            </a:r>
            <a:r>
              <a:rPr lang="es-PE" dirty="0" err="1"/>
              <a:t>Vue</a:t>
            </a:r>
            <a:r>
              <a:rPr lang="es-PE" dirty="0"/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dirty="0"/>
              <a:t>HTTPS automático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dirty="0"/>
              <a:t>CDN global</a:t>
            </a:r>
          </a:p>
          <a:p>
            <a:pPr fontAlgn="base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998D43-1566-D8B1-30DE-60AE8740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/>
          </a:bodyPr>
          <a:lstStyle/>
          <a:p>
            <a:r>
              <a:rPr lang="es-PE" sz="2100"/>
              <a:t>Servicios principales de </a:t>
            </a:r>
            <a:r>
              <a:rPr lang="es-PE" sz="2100" err="1"/>
              <a:t>Firebase</a:t>
            </a:r>
            <a:endParaRPr lang="es-PE" sz="2100"/>
          </a:p>
        </p:txBody>
      </p:sp>
      <p:pic>
        <p:nvPicPr>
          <p:cNvPr id="5122" name="Picture 2" descr="Connect a custom domain | Firebase Hosting">
            <a:extLst>
              <a:ext uri="{FF2B5EF4-FFF2-40B4-BE49-F238E27FC236}">
                <a16:creationId xmlns:a16="http://schemas.microsoft.com/office/drawing/2014/main" id="{7F814F5F-5118-2814-BF58-A53783DC7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1303" y="1776230"/>
            <a:ext cx="6320946" cy="338170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Text Placeholder 4">
            <a:extLst>
              <a:ext uri="{FF2B5EF4-FFF2-40B4-BE49-F238E27FC236}">
                <a16:creationId xmlns:a16="http://schemas.microsoft.com/office/drawing/2014/main" id="{1A12BCC5-3C4E-95E7-120F-ECA047B1E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3441070-0742-C2F6-A4E5-BDA9B7F60AAF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 dirty="0"/>
              <a:t> 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279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4E03-49A7-F63A-CE54-419C098D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982929F-2338-1E6E-B0F0-D8A99A0FA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r>
              <a:rPr lang="es-PE" dirty="0"/>
              <a:t>4.5 </a:t>
            </a:r>
            <a:r>
              <a:rPr lang="es-PE" dirty="0" err="1"/>
              <a:t>Firebase</a:t>
            </a:r>
            <a:r>
              <a:rPr lang="es-PE" dirty="0"/>
              <a:t> Cloud </a:t>
            </a:r>
            <a:r>
              <a:rPr lang="es-PE" dirty="0" err="1"/>
              <a:t>Messaging</a:t>
            </a:r>
            <a:r>
              <a:rPr lang="es-PE" dirty="0"/>
              <a:t> (FCM)</a:t>
            </a:r>
          </a:p>
          <a:p>
            <a:r>
              <a:rPr lang="es-ES" dirty="0"/>
              <a:t>Envío de notificaciones </a:t>
            </a:r>
            <a:r>
              <a:rPr lang="es-ES" dirty="0" err="1"/>
              <a:t>push</a:t>
            </a:r>
            <a:endParaRPr lang="es-ES" dirty="0"/>
          </a:p>
          <a:p>
            <a:r>
              <a:rPr lang="es-ES" dirty="0"/>
              <a:t>Ejemplo: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Promociones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Alertas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Mensajes en tiempo real</a:t>
            </a:r>
          </a:p>
          <a:p>
            <a:pPr fontAlgn="base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1F48EB-FBD8-A2DB-BBF5-46231508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/>
          </a:bodyPr>
          <a:lstStyle/>
          <a:p>
            <a:r>
              <a:rPr lang="es-PE" sz="2100"/>
              <a:t>Servicios principales de </a:t>
            </a:r>
            <a:r>
              <a:rPr lang="es-PE" sz="2100" err="1"/>
              <a:t>Firebase</a:t>
            </a:r>
            <a:endParaRPr lang="es-PE" sz="2100"/>
          </a:p>
        </p:txBody>
      </p:sp>
      <p:pic>
        <p:nvPicPr>
          <p:cNvPr id="6146" name="Picture 2" descr="FCM Architectural Overview | Firebase Cloud Messaging">
            <a:extLst>
              <a:ext uri="{FF2B5EF4-FFF2-40B4-BE49-F238E27FC236}">
                <a16:creationId xmlns:a16="http://schemas.microsoft.com/office/drawing/2014/main" id="{B36AAAB5-9F34-4087-9D06-9A0390B74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8693" y="2213649"/>
            <a:ext cx="6019288" cy="338584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1" name="Text Placeholder 4">
            <a:extLst>
              <a:ext uri="{FF2B5EF4-FFF2-40B4-BE49-F238E27FC236}">
                <a16:creationId xmlns:a16="http://schemas.microsoft.com/office/drawing/2014/main" id="{1CFCDEA7-8FC9-7230-4E84-A9573AADE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40838F-D0E5-2E07-2188-96C58E4914B9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 dirty="0"/>
              <a:t> 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484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254D-98EA-6E31-F6ED-6149603F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9D9D46F-2123-0497-0AE0-137B658D7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r>
              <a:rPr lang="es-PE" dirty="0"/>
              <a:t>4.6 </a:t>
            </a:r>
            <a:r>
              <a:rPr lang="es-PE" dirty="0" err="1"/>
              <a:t>Firebase</a:t>
            </a:r>
            <a:r>
              <a:rPr lang="es-PE" dirty="0"/>
              <a:t> </a:t>
            </a:r>
            <a:r>
              <a:rPr lang="es-PE" dirty="0" err="1"/>
              <a:t>Analytics</a:t>
            </a:r>
            <a:endParaRPr lang="es-PE" dirty="0"/>
          </a:p>
          <a:p>
            <a:r>
              <a:rPr lang="es-ES" dirty="0"/>
              <a:t>Permite analizar: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s-ES" dirty="0"/>
              <a:t>Usuarios activos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s-ES" dirty="0"/>
              <a:t>Eventos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s-ES" dirty="0"/>
              <a:t>Retención</a:t>
            </a:r>
          </a:p>
          <a:p>
            <a:pPr fontAlgn="base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842B50-D994-10F0-5770-C245D24A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/>
          </a:bodyPr>
          <a:lstStyle/>
          <a:p>
            <a:r>
              <a:rPr lang="es-PE" sz="2100"/>
              <a:t>Servicios principales de </a:t>
            </a:r>
            <a:r>
              <a:rPr lang="es-PE" sz="2100" err="1"/>
              <a:t>Firebase</a:t>
            </a:r>
            <a:endParaRPr lang="es-PE" sz="2100"/>
          </a:p>
        </p:txBody>
      </p:sp>
      <p:pic>
        <p:nvPicPr>
          <p:cNvPr id="7170" name="Picture 2" descr="Improving the Google Analytics dashboard in Firebase">
            <a:extLst>
              <a:ext uri="{FF2B5EF4-FFF2-40B4-BE49-F238E27FC236}">
                <a16:creationId xmlns:a16="http://schemas.microsoft.com/office/drawing/2014/main" id="{025ECC32-0EFF-26BA-773D-06CF2213B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74" b="-3"/>
          <a:stretch>
            <a:fillRect/>
          </a:stretch>
        </p:blipFill>
        <p:spPr bwMode="auto">
          <a:xfrm>
            <a:off x="6450211" y="1294764"/>
            <a:ext cx="5017770" cy="466026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5" name="Text Placeholder 4">
            <a:extLst>
              <a:ext uri="{FF2B5EF4-FFF2-40B4-BE49-F238E27FC236}">
                <a16:creationId xmlns:a16="http://schemas.microsoft.com/office/drawing/2014/main" id="{8CE655ED-20F3-44CA-4744-307684794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8C13A9-CD02-F955-2C91-39F8A52A1232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 dirty="0"/>
              <a:t> 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790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44D1-F2CE-88BE-9189-91CA4818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9BC3580-3CFE-9F42-4B1B-9D1A5909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ES" dirty="0" err="1"/>
              <a:t>Firebase</a:t>
            </a:r>
            <a:r>
              <a:rPr lang="es-ES" dirty="0"/>
              <a:t> permite crear aplicaciones reales rápidamente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ES" dirty="0"/>
              <a:t>Es ideal para startups y </a:t>
            </a:r>
            <a:r>
              <a:rPr lang="es-ES" dirty="0" err="1"/>
              <a:t>MVPs</a:t>
            </a:r>
            <a:endParaRPr lang="es-ES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ES" dirty="0"/>
              <a:t>Pero como desarrolladores deben entender cuándo usarlo y cuándo no</a:t>
            </a:r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4BCA74-73FB-FA58-B141-31AACD50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 fontScale="90000"/>
          </a:bodyPr>
          <a:lstStyle/>
          <a:p>
            <a:r>
              <a:rPr lang="es-PE" sz="2400" dirty="0"/>
              <a:t>Cierre de curso </a:t>
            </a:r>
            <a:endParaRPr lang="es-PE" sz="2100" dirty="0"/>
          </a:p>
        </p:txBody>
      </p:sp>
      <p:sp>
        <p:nvSpPr>
          <p:cNvPr id="7175" name="Text Placeholder 4">
            <a:extLst>
              <a:ext uri="{FF2B5EF4-FFF2-40B4-BE49-F238E27FC236}">
                <a16:creationId xmlns:a16="http://schemas.microsoft.com/office/drawing/2014/main" id="{07F22FEE-C4D1-23B5-1196-E1DA2741A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6094D2-86CC-8039-F38E-9F5915E97CFC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 dirty="0"/>
              <a:t> </a:t>
            </a:r>
            <a:endParaRPr lang="es-PE"/>
          </a:p>
        </p:txBody>
      </p:sp>
      <p:pic>
        <p:nvPicPr>
          <p:cNvPr id="6" name="Picture 2" descr="Firebase Brand Guidelines">
            <a:extLst>
              <a:ext uri="{FF2B5EF4-FFF2-40B4-BE49-F238E27FC236}">
                <a16:creationId xmlns:a16="http://schemas.microsoft.com/office/drawing/2014/main" id="{924E2B1D-280F-5DB0-A010-CE6EA2F33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8" t="14471" r="19176" b="14703"/>
          <a:stretch>
            <a:fillRect/>
          </a:stretch>
        </p:blipFill>
        <p:spPr bwMode="auto">
          <a:xfrm>
            <a:off x="7211505" y="1270261"/>
            <a:ext cx="3751868" cy="431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70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04BB-0ADB-D1EC-A6B8-C6B53E37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33472D0-7E4B-D82D-E5E0-A81F87595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</p:spPr>
        <p:txBody>
          <a:bodyPr>
            <a:norm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ES" dirty="0"/>
              <a:t>¿</a:t>
            </a:r>
            <a:r>
              <a:rPr lang="es-ES" dirty="0" err="1"/>
              <a:t>Firebase</a:t>
            </a:r>
            <a:r>
              <a:rPr lang="es-ES" dirty="0"/>
              <a:t> reemplaza a Spring </a:t>
            </a:r>
            <a:r>
              <a:rPr lang="es-ES" dirty="0" err="1"/>
              <a:t>Boot</a:t>
            </a:r>
            <a:r>
              <a:rPr lang="es-ES" dirty="0"/>
              <a:t> o Laravel?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ES" dirty="0"/>
              <a:t>¿En qué casos NO usarías </a:t>
            </a:r>
            <a:r>
              <a:rPr lang="es-ES" dirty="0" err="1"/>
              <a:t>Firebase</a:t>
            </a:r>
            <a:r>
              <a:rPr lang="es-ES" dirty="0"/>
              <a:t>?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ES" dirty="0"/>
              <a:t>¿Qué prefieres: control o rapidez?</a:t>
            </a:r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D3B1DB-F8D2-BBC0-419A-0CDADC0E2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671512"/>
            <a:ext cx="10728841" cy="381955"/>
          </a:xfrm>
        </p:spPr>
        <p:txBody>
          <a:bodyPr>
            <a:normAutofit fontScale="90000"/>
          </a:bodyPr>
          <a:lstStyle/>
          <a:p>
            <a:r>
              <a:rPr lang="es-PE" sz="2400" dirty="0"/>
              <a:t>Cierre de curso </a:t>
            </a:r>
            <a:endParaRPr lang="es-PE" sz="2100" dirty="0"/>
          </a:p>
        </p:txBody>
      </p:sp>
      <p:sp>
        <p:nvSpPr>
          <p:cNvPr id="7175" name="Text Placeholder 4">
            <a:extLst>
              <a:ext uri="{FF2B5EF4-FFF2-40B4-BE49-F238E27FC236}">
                <a16:creationId xmlns:a16="http://schemas.microsoft.com/office/drawing/2014/main" id="{45983973-18D4-E33E-1864-DCF7E54E6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140" y="6215064"/>
            <a:ext cx="9925050" cy="5064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8D8BE8A-DBC4-CC6F-810D-01277CE7733D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s-PE" dirty="0"/>
              <a:t> </a:t>
            </a:r>
            <a:endParaRPr lang="es-PE"/>
          </a:p>
        </p:txBody>
      </p:sp>
      <p:pic>
        <p:nvPicPr>
          <p:cNvPr id="6" name="Picture 2" descr="Firebase Brand Guidelines">
            <a:extLst>
              <a:ext uri="{FF2B5EF4-FFF2-40B4-BE49-F238E27FC236}">
                <a16:creationId xmlns:a16="http://schemas.microsoft.com/office/drawing/2014/main" id="{53B029BE-66B2-0FAB-21DE-561407B976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8" t="14471" r="19176" b="14703"/>
          <a:stretch>
            <a:fillRect/>
          </a:stretch>
        </p:blipFill>
        <p:spPr bwMode="auto">
          <a:xfrm>
            <a:off x="7211505" y="1270261"/>
            <a:ext cx="3751868" cy="431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99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774B2-9B8E-46AD-AC9A-D0DCCFD32B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209457933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putacion" id="{706AB4F1-172C-422D-8B07-7C7A96067946}" vid="{9F549561-CE1C-4C11-838A-B6AE7FD159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tema_computacioneinformatica</Template>
  <TotalTime>1267</TotalTime>
  <Words>295</Words>
  <Application>Microsoft Office PowerPoint</Application>
  <PresentationFormat>Panorámica</PresentationFormat>
  <Paragraphs>79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Muller Light</vt:lpstr>
      <vt:lpstr>Muller Regular</vt:lpstr>
      <vt:lpstr>Stag Book</vt:lpstr>
      <vt:lpstr>Wingdings</vt:lpstr>
      <vt:lpstr>computacion</vt:lpstr>
      <vt:lpstr>DE SARROLLO DE APLICACIONES PARA DISPOSITIVOS MÓVILES I</vt:lpstr>
      <vt:lpstr>OBJETIVO DE LA SESIÓN</vt:lpstr>
      <vt:lpstr>¿Qué es Firebase?</vt:lpstr>
      <vt:lpstr>Es un Backend as a Service (BaaS)</vt:lpstr>
      <vt:lpstr>¿Por qué usar Firebase?</vt:lpstr>
      <vt:lpstr>Servicios principales de Firebase</vt:lpstr>
      <vt:lpstr>Servicios principales de Firebase</vt:lpstr>
      <vt:lpstr>Servicios principales de Firebase</vt:lpstr>
      <vt:lpstr>Servicios principales de Firebase</vt:lpstr>
      <vt:lpstr>Servicios principales de Firebase</vt:lpstr>
      <vt:lpstr>Servicios principales de Firebase</vt:lpstr>
      <vt:lpstr>Cierre de curso </vt:lpstr>
      <vt:lpstr>Cierre de curso 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Angel Salvatierra Aquino</dc:creator>
  <cp:lastModifiedBy>Luis Angel  Salvatierra Aquino</cp:lastModifiedBy>
  <cp:revision>90</cp:revision>
  <dcterms:created xsi:type="dcterms:W3CDTF">2020-04-06T17:43:09Z</dcterms:created>
  <dcterms:modified xsi:type="dcterms:W3CDTF">2026-04-09T01:17:53Z</dcterms:modified>
</cp:coreProperties>
</file>