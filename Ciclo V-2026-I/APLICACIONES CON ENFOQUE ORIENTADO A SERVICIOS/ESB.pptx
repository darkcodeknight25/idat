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500" r:id="rId3"/>
    <p:sldId id="257" r:id="rId4"/>
    <p:sldId id="259" r:id="rId5"/>
    <p:sldId id="562" r:id="rId6"/>
    <p:sldId id="563" r:id="rId7"/>
    <p:sldId id="564" r:id="rId8"/>
    <p:sldId id="565" r:id="rId9"/>
    <p:sldId id="567" r:id="rId10"/>
    <p:sldId id="555" r:id="rId11"/>
    <p:sldId id="570" r:id="rId12"/>
    <p:sldId id="609" r:id="rId13"/>
    <p:sldId id="610" r:id="rId14"/>
    <p:sldId id="556" r:id="rId15"/>
    <p:sldId id="584" r:id="rId16"/>
    <p:sldId id="559" r:id="rId17"/>
    <p:sldId id="587" r:id="rId18"/>
    <p:sldId id="265" r:id="rId19"/>
  </p:sldIdLst>
  <p:sldSz cx="12192000" cy="6858000"/>
  <p:notesSz cx="6858000" cy="9144000"/>
  <p:embeddedFontLst>
    <p:embeddedFont>
      <p:font typeface="Muller Regular" charset="0"/>
      <p:regular r:id="rId20"/>
    </p:embeddedFont>
    <p:embeddedFont>
      <p:font typeface="Stag Book" panose="02000503060000020004" charset="0"/>
      <p:regular r:id="rId21"/>
      <p:italic r:id="rId22"/>
    </p:embeddedFont>
    <p:embeddedFont>
      <p:font typeface="Stag Light" panose="02000603060000020004" charset="0"/>
      <p:regular r:id="rId23"/>
      <p:italic r:id="rId24"/>
    </p:embeddedFont>
    <p:embeddedFont>
      <p:font typeface="Stag Medium" panose="02000603060000020004" charset="0"/>
      <p:regular r:id="rId25"/>
      <p:italic r:id="rId26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00ED"/>
    <a:srgbClr val="FFC820"/>
    <a:srgbClr val="E61052"/>
    <a:srgbClr val="2A2A2A"/>
    <a:srgbClr val="9FD7B7"/>
    <a:srgbClr val="EE646C"/>
    <a:srgbClr val="FF8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63" autoAdjust="0"/>
    <p:restoredTop sz="94660"/>
  </p:normalViewPr>
  <p:slideViewPr>
    <p:cSldViewPr snapToGrid="0">
      <p:cViewPr varScale="1">
        <p:scale>
          <a:sx n="87" d="100"/>
          <a:sy n="87" d="100"/>
        </p:scale>
        <p:origin x="4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084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50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7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68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224725"/>
            <a:ext cx="10515600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149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902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2224725"/>
            <a:ext cx="5183188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3031958"/>
            <a:ext cx="5183188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41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224725"/>
            <a:ext cx="5183188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559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25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515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900363"/>
            <a:ext cx="8336213" cy="1057275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02/07/2025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0070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A9C405-D21C-40E0-81DC-86AAE06A3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4CFB0538-05B5-4DE6-9B45-89FDCA8A00A6}" type="datetimeFigureOut">
              <a:rPr lang="es-PE" smtClean="0"/>
              <a:pPr/>
              <a:t>02/07/2025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C50FB786-48BF-4F93-AEF9-89E1BCF1BEEA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63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0" r:id="rId5"/>
    <p:sldLayoutId id="2147483652" r:id="rId6"/>
    <p:sldLayoutId id="2147483653" r:id="rId7"/>
    <p:sldLayoutId id="2147483656" r:id="rId8"/>
    <p:sldLayoutId id="2147483654" r:id="rId9"/>
    <p:sldLayoutId id="2147483655" r:id="rId10"/>
    <p:sldLayoutId id="214748365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Stag Light" panose="02000603060000020004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Cuatro momentos </a:t>
            </a:r>
            <a:endParaRPr lang="es-PE" dirty="0"/>
          </a:p>
        </p:txBody>
      </p:sp>
      <p:pic>
        <p:nvPicPr>
          <p:cNvPr id="5" name="Gráfico 38">
            <a:extLst>
              <a:ext uri="{FF2B5EF4-FFF2-40B4-BE49-F238E27FC236}">
                <a16:creationId xmlns:a16="http://schemas.microsoft.com/office/drawing/2014/main" id="{44A1BE57-CBDD-4F2A-B06F-13BCC3D53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8724" y="4973456"/>
            <a:ext cx="7715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1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922" y="5632047"/>
            <a:ext cx="536772" cy="896619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0A560F7-42C4-43F8-A3C3-05EF27CD6C3A}"/>
              </a:ext>
            </a:extLst>
          </p:cNvPr>
          <p:cNvGrpSpPr/>
          <p:nvPr/>
        </p:nvGrpSpPr>
        <p:grpSpPr>
          <a:xfrm>
            <a:off x="665516" y="1181102"/>
            <a:ext cx="10860968" cy="4110457"/>
            <a:chOff x="940196" y="976812"/>
            <a:chExt cx="10860968" cy="4110457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E1E547F-9519-4409-AA93-BF7CB95ED6DD}"/>
                </a:ext>
              </a:extLst>
            </p:cNvPr>
            <p:cNvSpPr txBox="1"/>
            <p:nvPr/>
          </p:nvSpPr>
          <p:spPr>
            <a:xfrm>
              <a:off x="940196" y="976812"/>
              <a:ext cx="244760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i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621B773-4FB5-44C4-8FA6-ABD393F4A36A}"/>
                </a:ext>
              </a:extLst>
            </p:cNvPr>
            <p:cNvSpPr txBox="1"/>
            <p:nvPr/>
          </p:nvSpPr>
          <p:spPr>
            <a:xfrm>
              <a:off x="9292595" y="1053829"/>
              <a:ext cx="250856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t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7AF91BD-1F8E-4E25-884C-933B95A66CBC}"/>
                </a:ext>
              </a:extLst>
            </p:cNvPr>
            <p:cNvSpPr txBox="1"/>
            <p:nvPr/>
          </p:nvSpPr>
          <p:spPr>
            <a:xfrm>
              <a:off x="6667326" y="1053829"/>
              <a:ext cx="2441415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a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68FC3DB-8848-48DA-991E-EB5517F0A33F}"/>
                </a:ext>
              </a:extLst>
            </p:cNvPr>
            <p:cNvSpPr txBox="1"/>
            <p:nvPr/>
          </p:nvSpPr>
          <p:spPr>
            <a:xfrm>
              <a:off x="3624962" y="1053829"/>
              <a:ext cx="2436974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d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3962F92-DFDD-4525-8768-BEEC4747A6B4}"/>
                </a:ext>
              </a:extLst>
            </p:cNvPr>
            <p:cNvSpPr txBox="1"/>
            <p:nvPr/>
          </p:nvSpPr>
          <p:spPr>
            <a:xfrm>
              <a:off x="1031302" y="4370417"/>
              <a:ext cx="2190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inicio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B325B5B-9620-4DF4-9EB1-E55307F23191}"/>
                </a:ext>
              </a:extLst>
            </p:cNvPr>
            <p:cNvSpPr txBox="1"/>
            <p:nvPr/>
          </p:nvSpPr>
          <p:spPr>
            <a:xfrm>
              <a:off x="3209552" y="4370417"/>
              <a:ext cx="33020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desarrollo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098AA22-E352-480A-9ADB-DED263579889}"/>
                </a:ext>
              </a:extLst>
            </p:cNvPr>
            <p:cNvSpPr txBox="1"/>
            <p:nvPr/>
          </p:nvSpPr>
          <p:spPr>
            <a:xfrm>
              <a:off x="6573496" y="4362427"/>
              <a:ext cx="30124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aplicación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6C88720-1E4E-4387-A59E-97EEB429A5D6}"/>
                </a:ext>
              </a:extLst>
            </p:cNvPr>
            <p:cNvSpPr txBox="1"/>
            <p:nvPr/>
          </p:nvSpPr>
          <p:spPr>
            <a:xfrm>
              <a:off x="9585904" y="4379383"/>
              <a:ext cx="21877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término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99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I</a:t>
            </a:r>
            <a:r>
              <a:rPr lang="es-PE" b="1" dirty="0" err="1">
                <a:solidFill>
                  <a:schemeClr val="bg1"/>
                </a:solidFill>
              </a:rPr>
              <a:t>nicio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8" y="5486401"/>
            <a:ext cx="9003031" cy="1707016"/>
          </a:xfrm>
        </p:spPr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Enterprise Service Bus (ESB)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2457" y="5383338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6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7" y="2254384"/>
            <a:ext cx="5108138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Objetivo</a:t>
            </a:r>
            <a:r>
              <a:rPr lang="es-ES" sz="2800" dirty="0">
                <a:latin typeface="Stag Medium" panose="02000603060000020004" pitchFamily="50" charset="0"/>
              </a:rPr>
              <a:t>:</a:t>
            </a:r>
          </a:p>
          <a:p>
            <a:r>
              <a:rPr lang="es-ES" sz="2000" dirty="0"/>
              <a:t> </a:t>
            </a:r>
          </a:p>
          <a:p>
            <a:r>
              <a:rPr lang="es-US" sz="1800" dirty="0"/>
              <a:t>Centralizar la integración de servicios y sistemas, desacoplando componentes para facilitar la reutilización, escalabilidad y mantenimiento.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1747D8C-42E4-944E-5295-B0A973492C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54384"/>
            <a:ext cx="5880724" cy="460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6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5642875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¿</a:t>
            </a:r>
            <a:r>
              <a:rPr lang="en-US" sz="2800" dirty="0" err="1">
                <a:latin typeface="Stag Medium" panose="02000603060000020004" pitchFamily="50" charset="0"/>
              </a:rPr>
              <a:t>Qué</a:t>
            </a:r>
            <a:r>
              <a:rPr lang="en-US" sz="2800" dirty="0">
                <a:latin typeface="Stag Medium" panose="02000603060000020004" pitchFamily="50" charset="0"/>
              </a:rPr>
              <a:t> es</a:t>
            </a:r>
            <a:r>
              <a:rPr lang="es-419" sz="2800" dirty="0">
                <a:latin typeface="Stag Medium" panose="02000603060000020004" pitchFamily="50" charset="0"/>
              </a:rPr>
              <a:t> un ESB</a:t>
            </a:r>
            <a:r>
              <a:rPr lang="en-US" sz="2800" dirty="0">
                <a:latin typeface="Stag Medium" panose="02000603060000020004" pitchFamily="50" charset="0"/>
              </a:rPr>
              <a:t>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1500" dirty="0"/>
              <a:t> </a:t>
            </a:r>
          </a:p>
          <a:p>
            <a:r>
              <a:rPr lang="es-US" sz="1800" dirty="0"/>
              <a:t>Un Enterprise Service Bus (ESB) es un patrón de arquitectura que permite integrar sistemas heterogéneos dentro de una empresa, facilitando la interoperabilidad, el enrutamiento de mensajes, la transformación de datos y la orquestación de servicios.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BF968C9-22D7-975B-9CE1-4EF55662A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421" y="2207595"/>
            <a:ext cx="5880724" cy="460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0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86976" y="2254384"/>
            <a:ext cx="5149916" cy="4085906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Arquitectura de un ESB</a:t>
            </a:r>
            <a:endParaRPr lang="es-ES" sz="2800" dirty="0">
              <a:latin typeface="Stag Medium" panose="02000603060000020004" pitchFamily="50" charset="0"/>
            </a:endParaRPr>
          </a:p>
          <a:p>
            <a:endParaRPr lang="es-419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Componentes: Servicios conectores, adaptadores, broker de mensajes, transformadores, orquestador.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Patrón hub-and-spoke mejorado con intermediación inteligente.</a:t>
            </a:r>
          </a:p>
          <a:p>
            <a:endParaRPr lang="es-US" sz="15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1FECD8-2122-9824-754D-00CBACEE1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892" y="3101562"/>
            <a:ext cx="6519320" cy="3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0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7" y="2254384"/>
            <a:ext cx="4696346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Funciones principales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Enrutamiento dinámico de mensajes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Validación, transformación y mapeo de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Manejo de reglas de negocio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Reintentos y garantía de entrega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Subscripción y manejo de colas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Adaptadores tecnológicos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Monitoreo de mensajería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711F359-9CDD-04D7-D1E2-0DA95295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892" y="3101562"/>
            <a:ext cx="6519320" cy="3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2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5007875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¿Por qué es clave en SOA?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ESB permite implementar una SOA eficiente y escalable.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Administra el catálogo de servicios, aplica políticas de negocio, monitorea eventos y orquesta procesos.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96E58A3-4998-1352-968C-66D28D007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892" y="3101562"/>
            <a:ext cx="6519320" cy="3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5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Características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Escalabilidad flexible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Alta disponibilidad y seguridad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Tolerancia a fallos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Conectividad con sistemas antiguos y modernos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Visor de servicios en tiempo real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F94C054-D047-BCEF-E924-A10170381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782" y="3101562"/>
            <a:ext cx="5566429" cy="276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0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Desarrollo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ESB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3499" y="521050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49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Caso de uso: Empresa de Ventas Omnicanal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1800" dirty="0"/>
          </a:p>
          <a:p>
            <a:r>
              <a:rPr lang="es-US" sz="1800" dirty="0"/>
              <a:t>Problema actual: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La empresa tiene sistemas aislados: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Sistema ERP en Java + Oracle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Plataforma e-commerce (PHP + MySQL)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App móvil en Flutter + Firebase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CRM en la nube (Salesforce)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Almacén con SAP (ABAP)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6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Implementar un ESB con Mulesoft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Integrar todos los canales (web, móvil, físico).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Automatizar el flujo de pedidos desde e-commerce → ERP → SAP.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Sincronizar stock en tiempo real.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Enviar notificaciones push con estado de pedido.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2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Tecnologías usadas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MuleSoft Anypoint (ESB)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REST/SOAP APIs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Adaptadores para Oracle, Salesforce y SAP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Transformación JSON ↔ XML ↔ SQL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89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Actividad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Desarrollar actividad de aprendizaje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857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60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Desarrolla un caso real de negocio en tu entorno (universidad, empresa, etc.) donde un ESB permita mejorar los procesos. Describe: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Sistemas actuales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Lenguajes y tecnologías utilizadas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Qué servicios se integrarían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Qué solución ESB implementarías y por qué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7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Término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Indicaciones generales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2380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2475922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Cierre</a:t>
            </a:r>
            <a:r>
              <a:rPr lang="en-US" sz="2800" dirty="0">
                <a:latin typeface="Stag Medium" panose="02000603060000020004" pitchFamily="50" charset="0"/>
              </a:rPr>
              <a:t> y </a:t>
            </a:r>
            <a:r>
              <a:rPr lang="en-US" sz="2800" dirty="0" err="1">
                <a:latin typeface="Stag Medium" panose="02000603060000020004" pitchFamily="50" charset="0"/>
              </a:rPr>
              <a:t>preguntas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2800" dirty="0">
              <a:latin typeface="Stag Medium" panose="02000603060000020004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Un ESB permite a las organizaciones evolucionar a una arquitectura SOA sin tener que reconstruir todo su ecosistema.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Provee conectividad, control y visibilidad a través de múltiples sistemas.</a:t>
            </a:r>
            <a:endParaRPr lang="es-419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Recomendamos MuleSoft o JBoss Fuse para proyectos con APIs REST y entornos híbridos.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D31281C-1D8E-89E6-EE7E-8E85D03715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61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3763571"/>
      </p:ext>
    </p:extLst>
  </p:cSld>
  <p:clrMapOvr>
    <a:masterClrMapping/>
  </p:clrMapOvr>
</p:sld>
</file>

<file path=ppt/theme/theme1.xml><?xml version="1.0" encoding="utf-8"?>
<a:theme xmlns:a="http://schemas.openxmlformats.org/drawingml/2006/main" name="disenografico20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senografico2019" id="{17520084-13A1-4B8E-B2AA-7F147A8FDEA2}" vid="{8F7BF745-232F-4D93-A782-796D8A8A8C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435</Words>
  <Application>Microsoft Office PowerPoint</Application>
  <PresentationFormat>Panorámica</PresentationFormat>
  <Paragraphs>92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Calibri</vt:lpstr>
      <vt:lpstr>Stag Book</vt:lpstr>
      <vt:lpstr>Stag Medium</vt:lpstr>
      <vt:lpstr>Muller Regular</vt:lpstr>
      <vt:lpstr>Stag Light</vt:lpstr>
      <vt:lpstr>Arial</vt:lpstr>
      <vt:lpstr>disenografico2019</vt:lpstr>
      <vt:lpstr>Cuatro momentos </vt:lpstr>
      <vt:lpstr>Presentación de PowerPoint</vt:lpstr>
      <vt:lpstr>Inicio</vt:lpstr>
      <vt:lpstr>Inicio</vt:lpstr>
      <vt:lpstr>Inicio</vt:lpstr>
      <vt:lpstr>Inicio</vt:lpstr>
      <vt:lpstr>Inicio</vt:lpstr>
      <vt:lpstr>Inicio</vt:lpstr>
      <vt:lpstr>Inicio</vt:lpstr>
      <vt:lpstr>Desarrollo</vt:lpstr>
      <vt:lpstr>Inicio</vt:lpstr>
      <vt:lpstr>Inicio</vt:lpstr>
      <vt:lpstr>Inicio</vt:lpstr>
      <vt:lpstr>Actividad</vt:lpstr>
      <vt:lpstr>Inicio</vt:lpstr>
      <vt:lpstr>Término</vt:lpstr>
      <vt:lpstr>Inicio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PACKAGING &amp; RETAIL</dc:title>
  <dc:creator>DOCENTE - CRISTIAN JORGE DIAZ  HURTADO</dc:creator>
  <cp:lastModifiedBy>Nuñez Rivero Eduardo Jean</cp:lastModifiedBy>
  <cp:revision>57</cp:revision>
  <dcterms:created xsi:type="dcterms:W3CDTF">2020-07-21T23:18:10Z</dcterms:created>
  <dcterms:modified xsi:type="dcterms:W3CDTF">2025-07-02T13:47:00Z</dcterms:modified>
</cp:coreProperties>
</file>