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562" r:id="rId5"/>
    <p:sldId id="563" r:id="rId6"/>
    <p:sldId id="564" r:id="rId7"/>
    <p:sldId id="619" r:id="rId8"/>
    <p:sldId id="565" r:id="rId9"/>
    <p:sldId id="567" r:id="rId10"/>
    <p:sldId id="620" r:id="rId11"/>
    <p:sldId id="570" r:id="rId12"/>
    <p:sldId id="621" r:id="rId13"/>
    <p:sldId id="614" r:id="rId14"/>
    <p:sldId id="615" r:id="rId15"/>
    <p:sldId id="616" r:id="rId16"/>
    <p:sldId id="617" r:id="rId17"/>
    <p:sldId id="622" r:id="rId18"/>
    <p:sldId id="555" r:id="rId19"/>
    <p:sldId id="618" r:id="rId20"/>
    <p:sldId id="623" r:id="rId21"/>
    <p:sldId id="624" r:id="rId22"/>
    <p:sldId id="625" r:id="rId23"/>
    <p:sldId id="626" r:id="rId24"/>
    <p:sldId id="627" r:id="rId25"/>
    <p:sldId id="628" r:id="rId26"/>
    <p:sldId id="629" r:id="rId27"/>
    <p:sldId id="556" r:id="rId28"/>
    <p:sldId id="584" r:id="rId29"/>
    <p:sldId id="630" r:id="rId30"/>
    <p:sldId id="631" r:id="rId31"/>
    <p:sldId id="559" r:id="rId32"/>
    <p:sldId id="587" r:id="rId33"/>
    <p:sldId id="265" r:id="rId34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Muller Regular"/>
      <p:regular r:id="rId39"/>
    </p:embeddedFont>
    <p:embeddedFont>
      <p:font typeface="Stag Book" panose="02000503060000020004" pitchFamily="2" charset="77"/>
      <p:regular r:id="rId40"/>
      <p:italic r:id="rId41"/>
    </p:embeddedFont>
    <p:embeddedFont>
      <p:font typeface="Stag Light" panose="02000603060000020004" pitchFamily="2" charset="77"/>
      <p:regular r:id="rId42"/>
      <p:italic r:id="rId43"/>
    </p:embeddedFont>
    <p:embeddedFont>
      <p:font typeface="Stag Medium" panose="02000603060000020004" pitchFamily="2" charset="77"/>
      <p:regular r:id="rId44"/>
      <p:italic r:id="rId45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15/10/25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Process Modeling Notation (BPMN)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4941033" cy="460361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</a:t>
            </a:r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 BPMN?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r>
              <a:rPr lang="es-US" sz="1500" b="0" dirty="0"/>
              <a:t>Business Process Model and Notation (BPMN) es un estándar gráfico para representar procesos de negocio.</a:t>
            </a:r>
          </a:p>
          <a:p>
            <a:r>
              <a:rPr lang="es-US" sz="1500" b="0" dirty="0"/>
              <a:t>🔹 Define pasos y secuencias de actividades</a:t>
            </a:r>
          </a:p>
          <a:p>
            <a:r>
              <a:rPr lang="es-US" sz="1500" b="0" dirty="0"/>
              <a:t>🔹 Facilita la comprensión entre distintos roles (analistas, desarrolladores, usuarios de negocio)</a:t>
            </a:r>
          </a:p>
          <a:p>
            <a:r>
              <a:rPr lang="es-US" sz="1500" b="0" dirty="0"/>
              <a:t>🔹 Soporta la documentación y automatización de procesos</a:t>
            </a:r>
          </a:p>
          <a:p>
            <a:br>
              <a:rPr lang="es-US" sz="1500" b="0" dirty="0"/>
            </a:br>
            <a:endParaRPr lang="es-US" sz="1500" b="0" dirty="0"/>
          </a:p>
          <a:p>
            <a:r>
              <a:rPr lang="es-US" sz="1500" b="0" dirty="0"/>
              <a:t>💡 Ejemplo: Flujo de solicitud de crédito, aprobación y desembolso.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D5F925F-2FFD-B1FE-F516-25844EFCE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235" y="3047513"/>
            <a:ext cx="5942765" cy="283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6975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¿Por </a:t>
            </a:r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usar</a:t>
            </a:r>
            <a:r>
              <a:rPr lang="en-US" sz="2800" dirty="0">
                <a:latin typeface="Stag Medium" panose="02000603060000020004" pitchFamily="50" charset="0"/>
              </a:rPr>
              <a:t> BPMN?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r>
              <a:rPr lang="es-US" sz="1500" b="0" dirty="0"/>
              <a:t>🔸 Estándar internacional y ampliamente aceptado</a:t>
            </a:r>
          </a:p>
          <a:p>
            <a:r>
              <a:rPr lang="es-US" sz="1500" b="0" dirty="0"/>
              <a:t>🔸 No depende de una metodología específica</a:t>
            </a:r>
          </a:p>
          <a:p>
            <a:r>
              <a:rPr lang="es-US" sz="1500" b="0" dirty="0"/>
              <a:t>🔸 Reduce la brecha entre diseño e implementación</a:t>
            </a:r>
          </a:p>
          <a:p>
            <a:r>
              <a:rPr lang="es-US" sz="1500" b="0" dirty="0"/>
              <a:t>🔸 Mejora la comunicación y colaboración entre equipos</a:t>
            </a:r>
          </a:p>
          <a:p>
            <a:r>
              <a:rPr lang="es-US" sz="1500" b="0" dirty="0"/>
              <a:t>🔸 Facilita la automatización de procesos</a:t>
            </a:r>
          </a:p>
          <a:p>
            <a:endParaRPr lang="es-US" sz="12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4844AC-B27C-F97E-C674-8BC177414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343" y="3114355"/>
            <a:ext cx="6763222" cy="322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4696389" cy="368116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Elementos</a:t>
            </a:r>
            <a:r>
              <a:rPr lang="en-US" sz="2800" dirty="0">
                <a:latin typeface="Stag Medium" panose="02000603060000020004" pitchFamily="50" charset="0"/>
              </a:rPr>
              <a:t> de BPMN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r>
              <a:rPr lang="es-US" sz="1500" b="0" dirty="0"/>
              <a:t>1. Objetos de flujo: eventos, actividades y compuertas</a:t>
            </a:r>
          </a:p>
          <a:p>
            <a:r>
              <a:rPr lang="es-US" sz="1500" b="0" dirty="0"/>
              <a:t>2. Objetos de conexión: flujos de secuencia, asociaciones, mensajes</a:t>
            </a:r>
          </a:p>
          <a:p>
            <a:r>
              <a:rPr lang="es-US" sz="1500" b="0" dirty="0"/>
              <a:t>3. Piscinas y carriles: responsables de actividades</a:t>
            </a:r>
          </a:p>
          <a:p>
            <a:r>
              <a:rPr lang="es-US" sz="1500" b="0" dirty="0"/>
              <a:t>4. Artefactos: objetos de datos, anotaciones, agrupaciones</a:t>
            </a:r>
          </a:p>
          <a:p>
            <a:endParaRPr lang="es-US" sz="105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D185FB5-DE23-AA5F-7071-C9FEC1F9B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053" y="1932040"/>
            <a:ext cx="5223458" cy="500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3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4696389" cy="368116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Elementos</a:t>
            </a:r>
            <a:r>
              <a:rPr lang="en-US" sz="2800" dirty="0">
                <a:latin typeface="Stag Medium" panose="02000603060000020004" pitchFamily="50" charset="0"/>
              </a:rPr>
              <a:t> de BPMN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r>
              <a:rPr lang="es-US" sz="1500" b="0" dirty="0"/>
              <a:t>1. Objetos de flujo: eventos, actividades y compuertas</a:t>
            </a:r>
          </a:p>
          <a:p>
            <a:r>
              <a:rPr lang="es-US" sz="1500" b="0" dirty="0"/>
              <a:t>2. Objetos de conexión: flujos de secuencia, asociaciones, mensajes</a:t>
            </a:r>
          </a:p>
          <a:p>
            <a:r>
              <a:rPr lang="es-US" sz="1500" b="0" dirty="0"/>
              <a:t>3. Piscinas y carriles: responsables de actividades</a:t>
            </a:r>
          </a:p>
          <a:p>
            <a:r>
              <a:rPr lang="es-US" sz="1500" b="0" dirty="0"/>
              <a:t>4. Artefactos: objetos de datos, anotaciones, agrupaciones</a:t>
            </a:r>
          </a:p>
          <a:p>
            <a:endParaRPr lang="es-US" sz="105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815268-39DA-7701-EC63-E49C45842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480" y="1932038"/>
            <a:ext cx="6601194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9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Eventos</a:t>
            </a:r>
            <a:r>
              <a:rPr lang="en-US" sz="2800" dirty="0">
                <a:latin typeface="Stag Medium" panose="02000603060000020004" pitchFamily="50" charset="0"/>
              </a:rPr>
              <a:t> (Flow Objects)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r>
              <a:rPr lang="es-US" sz="1500" dirty="0"/>
              <a:t>🔹 Evento de inicio (Inicio del proceso)</a:t>
            </a:r>
          </a:p>
          <a:p>
            <a:r>
              <a:rPr lang="es-US" sz="1500" dirty="0"/>
              <a:t>🔹 Eventos intermedios (espera, mensajes, errores)</a:t>
            </a:r>
          </a:p>
          <a:p>
            <a:r>
              <a:rPr lang="es-US" sz="1500" dirty="0"/>
              <a:t>🔹 Evento de fin (término del proceso)</a:t>
            </a:r>
          </a:p>
          <a:p>
            <a:br>
              <a:rPr lang="es-US" sz="1500" dirty="0"/>
            </a:br>
            <a:endParaRPr lang="es-US" sz="1500" dirty="0"/>
          </a:p>
          <a:p>
            <a:r>
              <a:rPr lang="es-US" sz="1500" dirty="0"/>
              <a:t>Tipos de eventos:</a:t>
            </a:r>
          </a:p>
          <a:p>
            <a:r>
              <a:rPr lang="es-US" sz="1500" dirty="0"/>
              <a:t>Mensaje</a:t>
            </a:r>
          </a:p>
          <a:p>
            <a:r>
              <a:rPr lang="es-US" sz="1500" dirty="0"/>
              <a:t>Temporales (fechas, plazos)</a:t>
            </a:r>
          </a:p>
          <a:p>
            <a:r>
              <a:rPr lang="es-US" sz="1500" dirty="0"/>
              <a:t>Condicionales</a:t>
            </a:r>
          </a:p>
          <a:p>
            <a:r>
              <a:rPr lang="es-US" sz="1500" dirty="0"/>
              <a:t>Señales</a:t>
            </a:r>
          </a:p>
          <a:p>
            <a:r>
              <a:rPr lang="es-US" sz="1500" dirty="0"/>
              <a:t>Errores</a:t>
            </a:r>
          </a:p>
          <a:p>
            <a:r>
              <a:rPr lang="es-US" sz="1500" dirty="0"/>
              <a:t>Cancelación</a:t>
            </a:r>
          </a:p>
          <a:p>
            <a:r>
              <a:rPr lang="es-US" sz="1500" dirty="0"/>
              <a:t>Compensación</a:t>
            </a:r>
          </a:p>
          <a:p>
            <a:r>
              <a:rPr lang="es-US" sz="1500" dirty="0"/>
              <a:t>Múltiples / Paralelos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368135-267D-E346-70ED-E9FEB81457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693" y="1932039"/>
            <a:ext cx="6601194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Actividades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  <a:endParaRPr lang="en-US" sz="800" dirty="0"/>
          </a:p>
          <a:p>
            <a:r>
              <a:rPr lang="es-US" sz="1600" b="0" dirty="0"/>
              <a:t>🔸 Representan tareas o trabajos a realizar</a:t>
            </a:r>
          </a:p>
          <a:p>
            <a:r>
              <a:rPr lang="es-US" sz="1600" b="0" dirty="0"/>
              <a:t>🔸 Tarea (task): trabajo indivisible</a:t>
            </a:r>
          </a:p>
          <a:p>
            <a:r>
              <a:rPr lang="es-US" sz="1600" b="0" dirty="0"/>
              <a:t>🔸 Subproceso (sub-process): contiene más detalle</a:t>
            </a:r>
          </a:p>
          <a:p>
            <a:br>
              <a:rPr lang="es-US" sz="1600" b="0" dirty="0"/>
            </a:br>
            <a:endParaRPr lang="es-US" sz="1600" b="0" dirty="0"/>
          </a:p>
          <a:p>
            <a:r>
              <a:rPr lang="es-US" sz="1600" b="0" dirty="0"/>
              <a:t>Tipos de tareas:</a:t>
            </a:r>
          </a:p>
          <a:p>
            <a:r>
              <a:rPr lang="es-US" sz="1600" b="0" dirty="0"/>
              <a:t>Usuario</a:t>
            </a:r>
          </a:p>
          <a:p>
            <a:r>
              <a:rPr lang="es-US" sz="1600" b="0" dirty="0"/>
              <a:t>Manual</a:t>
            </a:r>
          </a:p>
          <a:p>
            <a:r>
              <a:rPr lang="es-US" sz="1600" b="0" dirty="0"/>
              <a:t>Envío / Recepción de mensajes</a:t>
            </a:r>
          </a:p>
          <a:p>
            <a:r>
              <a:rPr lang="es-US" sz="1600" b="0" dirty="0"/>
              <a:t>Regla de negocio</a:t>
            </a:r>
          </a:p>
          <a:p>
            <a:r>
              <a:rPr lang="es-US" sz="1600" b="0" dirty="0"/>
              <a:t>Servicio / Script</a:t>
            </a:r>
          </a:p>
          <a:p>
            <a:r>
              <a:rPr lang="es-US" sz="1600" b="0" dirty="0"/>
              <a:t>Invocación</a:t>
            </a:r>
          </a:p>
          <a:p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46AB62D-32A7-92F6-39C5-32DB37B1C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045" y="2578743"/>
            <a:ext cx="6884238" cy="267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Actividades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600" b="0" dirty="0"/>
              <a:t> </a:t>
            </a:r>
            <a:endParaRPr lang="en-US" sz="1600" b="0" dirty="0"/>
          </a:p>
          <a:p>
            <a:r>
              <a:rPr lang="es-US" sz="1600" b="0" dirty="0"/>
              <a:t>🔸 Representan tareas o trabajos a realizar</a:t>
            </a:r>
          </a:p>
          <a:p>
            <a:r>
              <a:rPr lang="es-US" sz="1600" b="0" dirty="0"/>
              <a:t>🔸 Tarea (task): trabajo indivisible</a:t>
            </a:r>
          </a:p>
          <a:p>
            <a:r>
              <a:rPr lang="es-US" sz="1600" b="0" dirty="0"/>
              <a:t>🔸 Subproceso (sub-process): contiene más detalle</a:t>
            </a:r>
          </a:p>
          <a:p>
            <a:br>
              <a:rPr lang="es-US" sz="1600" b="0" dirty="0"/>
            </a:br>
            <a:endParaRPr lang="es-US" sz="1600" b="0" dirty="0"/>
          </a:p>
          <a:p>
            <a:r>
              <a:rPr lang="es-US" sz="1600" b="0" dirty="0"/>
              <a:t>Tipos de tareas:</a:t>
            </a:r>
          </a:p>
          <a:p>
            <a:r>
              <a:rPr lang="es-US" sz="1600" b="0" dirty="0"/>
              <a:t>Usuario</a:t>
            </a:r>
          </a:p>
          <a:p>
            <a:r>
              <a:rPr lang="es-US" sz="1600" b="0" dirty="0"/>
              <a:t>Manual</a:t>
            </a:r>
          </a:p>
          <a:p>
            <a:r>
              <a:rPr lang="es-US" sz="1600" b="0" dirty="0"/>
              <a:t>Envío / Recepción de mensajes</a:t>
            </a:r>
          </a:p>
          <a:p>
            <a:r>
              <a:rPr lang="es-US" sz="1600" b="0" dirty="0"/>
              <a:t>Regla de negocio</a:t>
            </a:r>
          </a:p>
          <a:p>
            <a:r>
              <a:rPr lang="es-US" sz="1600" b="0" dirty="0"/>
              <a:t>Servicio / Script</a:t>
            </a:r>
          </a:p>
          <a:p>
            <a:r>
              <a:rPr lang="es-US" sz="1600" b="0" dirty="0"/>
              <a:t>Invocación</a:t>
            </a:r>
          </a:p>
          <a:p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A18F4DE-1809-1D85-7015-49EECB944C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651" y="1937354"/>
            <a:ext cx="6823295" cy="492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7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2207828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Comportamiento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Actividades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500" b="0" dirty="0"/>
              <a:t>🔸 Marcadores especiales:</a:t>
            </a:r>
          </a:p>
          <a:p>
            <a:r>
              <a:rPr lang="es-US" sz="1500" b="0" dirty="0"/>
              <a:t>🔁 Ciclo estándar (repetición por condición)</a:t>
            </a:r>
          </a:p>
          <a:p>
            <a:r>
              <a:rPr lang="es-US" sz="1500" b="0" dirty="0"/>
              <a:t>🔁 Instancias múltiples paralelas o secuenciales</a:t>
            </a:r>
          </a:p>
          <a:p>
            <a:r>
              <a:rPr lang="es-US" sz="1500" b="0" dirty="0"/>
              <a:t>🔁 Compensación (deshacer acciones)</a:t>
            </a:r>
          </a:p>
          <a:p>
            <a:r>
              <a:rPr lang="es-US" sz="1500" b="0" dirty="0"/>
              <a:t>🔁 Ad Hoc (sin orden fijo)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096046-F70A-867F-D572-BCF4BE24F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212" y="2207828"/>
            <a:ext cx="6594791" cy="46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2207828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Comportamiento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Actividades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500" b="0" dirty="0"/>
              <a:t>🔸 Marcadores especiales:</a:t>
            </a:r>
          </a:p>
          <a:p>
            <a:r>
              <a:rPr lang="es-US" sz="1500" b="0" dirty="0"/>
              <a:t>🔁 Ciclo estándar (repetición por condición)</a:t>
            </a:r>
          </a:p>
          <a:p>
            <a:r>
              <a:rPr lang="es-US" sz="1500" b="0" dirty="0"/>
              <a:t>🔁 Instancias múltiples paralelas o secuenciales</a:t>
            </a:r>
          </a:p>
          <a:p>
            <a:r>
              <a:rPr lang="es-US" sz="1500" b="0" dirty="0"/>
              <a:t>🔁 Compensación (deshacer acciones)</a:t>
            </a:r>
          </a:p>
          <a:p>
            <a:r>
              <a:rPr lang="es-US" sz="1500" b="0" dirty="0"/>
              <a:t>🔁 Ad Hoc (sin orden fijo)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4FABEC-C4FD-2C66-C000-CE41B38D63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889" y="3691578"/>
            <a:ext cx="6214402" cy="193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05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Compuertas</a:t>
            </a:r>
            <a:r>
              <a:rPr lang="en-US" sz="2800" dirty="0">
                <a:latin typeface="Stag Medium" panose="02000603060000020004" pitchFamily="50" charset="0"/>
              </a:rPr>
              <a:t> (Gateways)</a:t>
            </a:r>
          </a:p>
          <a:p>
            <a:endParaRPr lang="en-US" sz="800" dirty="0"/>
          </a:p>
          <a:p>
            <a:r>
              <a:rPr lang="es-US" sz="1500" b="0" dirty="0"/>
              <a:t>Exclusiva (XOR)</a:t>
            </a:r>
          </a:p>
          <a:p>
            <a:r>
              <a:rPr lang="es-US" sz="1500" b="0" dirty="0"/>
              <a:t>Inclusiva (OR)</a:t>
            </a:r>
          </a:p>
          <a:p>
            <a:r>
              <a:rPr lang="es-US" sz="1500" b="0" dirty="0"/>
              <a:t>Paralela (AND)</a:t>
            </a:r>
          </a:p>
          <a:p>
            <a:r>
              <a:rPr lang="es-US" sz="1500" b="0" dirty="0"/>
              <a:t>Basada en evento</a:t>
            </a:r>
          </a:p>
          <a:p>
            <a:r>
              <a:rPr lang="es-US" sz="1500" b="0" dirty="0"/>
              <a:t>Compleja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3AC69A-9AC5-C9A4-E226-ED675A9F7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1932040"/>
            <a:ext cx="5124008" cy="492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7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2352211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Objetos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Comexión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1500" b="0" dirty="0"/>
          </a:p>
          <a:p>
            <a:r>
              <a:rPr lang="es-US" sz="1500" b="0" dirty="0"/>
              <a:t>Flujo de secuencia: conecta actividades</a:t>
            </a:r>
          </a:p>
          <a:p>
            <a:r>
              <a:rPr lang="es-US" sz="1500" b="0" dirty="0"/>
              <a:t>Flujo condicional: depende de una condición</a:t>
            </a:r>
          </a:p>
          <a:p>
            <a:r>
              <a:rPr lang="es-US" sz="1500" b="0" dirty="0"/>
              <a:t>Flujo por defecto: camino alternativo si otros fallan</a:t>
            </a:r>
          </a:p>
          <a:p>
            <a:r>
              <a:rPr lang="es-US" sz="1500" b="0" dirty="0"/>
              <a:t>Asociaciones: unen notas, datos, eventos</a:t>
            </a:r>
          </a:p>
          <a:p>
            <a:r>
              <a:rPr lang="es-US" sz="1500" b="0" dirty="0"/>
              <a:t>Líneas de mensaje: comunican entre pools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7397E03-F5CD-6484-2997-512EC2DF5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1932039"/>
            <a:ext cx="5085140" cy="484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5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" y="2384231"/>
            <a:ext cx="4998468" cy="3929887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Canales</a:t>
            </a:r>
            <a:r>
              <a:rPr lang="en-US" sz="2800" dirty="0">
                <a:latin typeface="Stag Medium" panose="02000603060000020004" pitchFamily="50" charset="0"/>
              </a:rPr>
              <a:t> (Pools y Lanes)</a:t>
            </a:r>
          </a:p>
          <a:p>
            <a:endParaRPr lang="en-US" sz="800" dirty="0"/>
          </a:p>
          <a:p>
            <a:r>
              <a:rPr lang="es-US" sz="1500" b="0" dirty="0"/>
              <a:t>🔹 Pool: participante principal (empresa, sistema)</a:t>
            </a:r>
          </a:p>
          <a:p>
            <a:r>
              <a:rPr lang="es-US" sz="1500" b="0" dirty="0"/>
              <a:t>🔹 Lane: rol o función dentro del pool</a:t>
            </a:r>
            <a:br>
              <a:rPr lang="es-US" sz="1500" b="0" dirty="0"/>
            </a:br>
            <a:endParaRPr lang="es-US" sz="1500" b="0" dirty="0"/>
          </a:p>
          <a:p>
            <a:r>
              <a:rPr lang="es-US" sz="1500" b="0" dirty="0"/>
              <a:t>💡 Permiten representar responsabilidades y coordinación entre áreas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60068F-6251-9B8D-EE35-275BFDC456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877" y="4037862"/>
            <a:ext cx="7422735" cy="2598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99E902-0DD6-6148-8AB2-888851F3A0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468" y="2449750"/>
            <a:ext cx="7034144" cy="147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76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Artefactos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500" b="0" dirty="0"/>
              <a:t>Objetos de datos: documentos, mensajes.</a:t>
            </a:r>
          </a:p>
          <a:p>
            <a:r>
              <a:rPr lang="es-US" sz="1500" b="0" dirty="0"/>
              <a:t>Anotaciones: comentarios explicativos.</a:t>
            </a:r>
          </a:p>
          <a:p>
            <a:r>
              <a:rPr lang="es-US" sz="1500" b="0" dirty="0"/>
              <a:t>Agrupaciones: organizan visualmente tareas relacionadas.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2F960E8-29D3-DB22-2E59-D70DE99CF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359" y="2078788"/>
            <a:ext cx="7129480" cy="426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29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Artefactos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500" b="0" dirty="0"/>
              <a:t>Objetos de datos: documentos, mensajes.</a:t>
            </a:r>
          </a:p>
          <a:p>
            <a:r>
              <a:rPr lang="es-US" sz="1500" b="0" dirty="0"/>
              <a:t>Anotaciones: comentarios explicativos.</a:t>
            </a:r>
          </a:p>
          <a:p>
            <a:r>
              <a:rPr lang="es-US" sz="1500" b="0" dirty="0"/>
              <a:t>Agrupaciones: organizan visualmente tareas relacionadas.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A76B89-0118-90B9-619D-CAF3B8C22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514" y="2770743"/>
            <a:ext cx="6590396" cy="235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92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BPMN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2376418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Ejemplos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Prácticos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500" dirty="0"/>
              <a:t>✅ Ejemplo 1: Solicitud de crédito (cliente → análisis → aprobación → desembolso)</a:t>
            </a:r>
          </a:p>
          <a:p>
            <a:r>
              <a:rPr lang="es-US" sz="1500" dirty="0"/>
              <a:t>✅ Ejemplo 2: Verificación de datos del solicitante</a:t>
            </a:r>
          </a:p>
          <a:p>
            <a:r>
              <a:rPr lang="es-US" sz="1500" dirty="0"/>
              <a:t>✅ Ejemplo 3: Subproceso de desembolso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415CF8-7043-9FD3-CC9A-0FC830746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10" y="2376418"/>
            <a:ext cx="6718365" cy="393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59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0" y="2552713"/>
            <a:ext cx="5355454" cy="3761405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Ejemplos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Prácticos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500" dirty="0"/>
              <a:t>✅ Ejemplo 1: Solicitud de crédito (cliente → análisis → aprobación → desembolso)</a:t>
            </a:r>
          </a:p>
          <a:p>
            <a:r>
              <a:rPr lang="es-US" sz="1500" dirty="0"/>
              <a:t>✅ Ejemplo 2: Verificación de datos del solicitante</a:t>
            </a:r>
          </a:p>
          <a:p>
            <a:r>
              <a:rPr lang="es-US" sz="1500" dirty="0"/>
              <a:t>✅ Ejemplo 3: Subproceso de desembolso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0FE6A4-9244-70BD-8F81-973A7D3BA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881" y="1932039"/>
            <a:ext cx="7223119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85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2A2D8DA-2235-A392-8070-2E2100777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694" y="1932040"/>
            <a:ext cx="6328612" cy="491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97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982C011-CEFF-F5B5-640F-02B7E79E9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29026"/>
            <a:ext cx="11085511" cy="305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06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FA8ABE-9C32-BB43-0B47-79AC0C86D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508" y="1945104"/>
            <a:ext cx="8475092" cy="491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39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93A4D70-B833-84B5-182B-1C371EA2F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131" y="1932040"/>
            <a:ext cx="9564979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25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E19E22F-573C-EE23-FBD3-E85BB876B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54" y="2993920"/>
            <a:ext cx="9767757" cy="246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57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8FA779E-4B22-EAC3-6D5A-F6CF28E3A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02094"/>
            <a:ext cx="10433469" cy="38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9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r>
              <a:rPr lang="en-US" sz="2800" dirty="0">
                <a:latin typeface="Stag Medium" panose="02000603060000020004" pitchFamily="50" charset="0"/>
              </a:rPr>
              <a:t>: </a:t>
            </a:r>
            <a:r>
              <a:rPr lang="en-US" sz="2800" dirty="0" err="1">
                <a:latin typeface="Stag Medium" panose="02000603060000020004" pitchFamily="50" charset="0"/>
              </a:rPr>
              <a:t>Modelamiento</a:t>
            </a:r>
            <a:r>
              <a:rPr lang="en-US" sz="2800" dirty="0">
                <a:latin typeface="Stag Medium" panose="02000603060000020004" pitchFamily="50" charset="0"/>
              </a:rPr>
              <a:t> BPMN</a:t>
            </a:r>
          </a:p>
          <a:p>
            <a:endParaRPr lang="en-US" sz="800" dirty="0"/>
          </a:p>
          <a:p>
            <a:r>
              <a:rPr lang="es-US" sz="1500" dirty="0"/>
              <a:t>🎯 Modelar en BPMN los siguientes casos:</a:t>
            </a:r>
          </a:p>
          <a:p>
            <a:r>
              <a:rPr lang="es-US" sz="1500" dirty="0"/>
              <a:t>Gestión de Evaluación (auto, jefe, RRHH)</a:t>
            </a:r>
          </a:p>
          <a:p>
            <a:r>
              <a:rPr lang="es-US" sz="1500" dirty="0"/>
              <a:t>Gestión de Quejas y Reclamos (con timeout y loops)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78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FE196E-0CD0-37AE-7628-162937875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58" y="1938576"/>
            <a:ext cx="8752568" cy="49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01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590A70E-AE9E-451D-B347-389683974C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019" y="1941096"/>
            <a:ext cx="5525823" cy="494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65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47592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Cierre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preguntas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US" sz="800" dirty="0"/>
          </a:p>
          <a:p>
            <a:r>
              <a:rPr lang="es-US" sz="1500" dirty="0"/>
              <a:t>Permite modelar procesos de forma clara, comprensible y consistente para todos los involucrados (analistas, desarrolladores, gerentes, etc.), facilitando la comunicación entre áreas técnicas y no técnicas</a:t>
            </a:r>
          </a:p>
          <a:p>
            <a:r>
              <a:rPr lang="es-US" sz="1500" dirty="0"/>
              <a:t>Al representar gráficamente los flujos de trabajo, BPMN permite identificar cuellos de botella, redundancias y oportunidades de mejora, optimizando así la toma de decisiones y la automatización.</a:t>
            </a:r>
          </a:p>
          <a:p>
            <a:r>
              <a:rPr lang="es-US" sz="1500" dirty="0"/>
              <a:t>BPMN no solo es útil para documentar procesos, sino que también puede integrarse con motores de ejecución como jBPM o Camunda, permitiendo la orquestación automática de tareas dentro de sistemas de información.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31281C-1D8E-89E6-EE7E-8E85D0371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61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464</Words>
  <Application>Microsoft Office PowerPoint</Application>
  <PresentationFormat>Panorámica</PresentationFormat>
  <Paragraphs>50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Desarrollo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Actividad</vt:lpstr>
      <vt:lpstr>Inicio</vt:lpstr>
      <vt:lpstr>Inicio</vt:lpstr>
      <vt:lpstr>Inicio</vt:lpstr>
      <vt:lpstr>Término</vt:lpstr>
      <vt:lpstr>Inicio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Manrique Ruiz Jose Carlos</cp:lastModifiedBy>
  <cp:revision>55</cp:revision>
  <dcterms:created xsi:type="dcterms:W3CDTF">2020-07-21T23:18:10Z</dcterms:created>
  <dcterms:modified xsi:type="dcterms:W3CDTF">2025-10-15T11:48:18Z</dcterms:modified>
</cp:coreProperties>
</file>