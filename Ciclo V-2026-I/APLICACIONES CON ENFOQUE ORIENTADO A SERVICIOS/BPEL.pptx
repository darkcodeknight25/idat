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562" r:id="rId6"/>
    <p:sldId id="563" r:id="rId7"/>
    <p:sldId id="564" r:id="rId8"/>
    <p:sldId id="565" r:id="rId9"/>
    <p:sldId id="567" r:id="rId10"/>
    <p:sldId id="570" r:id="rId11"/>
    <p:sldId id="609" r:id="rId12"/>
    <p:sldId id="610" r:id="rId13"/>
    <p:sldId id="611" r:id="rId14"/>
    <p:sldId id="555" r:id="rId15"/>
    <p:sldId id="612" r:id="rId16"/>
    <p:sldId id="613" r:id="rId17"/>
    <p:sldId id="614" r:id="rId18"/>
    <p:sldId id="615" r:id="rId19"/>
    <p:sldId id="616" r:id="rId20"/>
    <p:sldId id="556" r:id="rId21"/>
    <p:sldId id="584" r:id="rId22"/>
    <p:sldId id="559" r:id="rId23"/>
    <p:sldId id="587" r:id="rId24"/>
    <p:sldId id="265" r:id="rId25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uller Regular"/>
      <p:regular r:id="rId30"/>
    </p:embeddedFont>
    <p:embeddedFont>
      <p:font typeface="Stag Book" panose="02000503060000020004" pitchFamily="2" charset="77"/>
      <p:regular r:id="rId31"/>
      <p:italic r:id="rId32"/>
    </p:embeddedFont>
    <p:embeddedFont>
      <p:font typeface="Stag Light" panose="02000603060000020004" pitchFamily="2" charset="77"/>
      <p:regular r:id="rId33"/>
      <p:italic r:id="rId34"/>
    </p:embeddedFont>
    <p:embeddedFont>
      <p:font typeface="Stag Medium" panose="02000603060000020004" pitchFamily="2" charset="77"/>
      <p:regular r:id="rId35"/>
      <p:italic r:id="rId36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25/06/25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Process </a:t>
            </a:r>
            <a:r>
              <a:rPr lang="es-419" dirty="0">
                <a:solidFill>
                  <a:schemeClr val="bg1"/>
                </a:solidFill>
              </a:rPr>
              <a:t>Execution Language</a:t>
            </a:r>
            <a:r>
              <a:rPr lang="en-US" dirty="0">
                <a:solidFill>
                  <a:schemeClr val="bg1"/>
                </a:solidFill>
              </a:rPr>
              <a:t> (BP</a:t>
            </a:r>
            <a:r>
              <a:rPr lang="es-419" dirty="0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Objetivo</a:t>
            </a:r>
            <a:r>
              <a:rPr lang="es-ES" sz="2800" dirty="0">
                <a:latin typeface="Stag Medium" panose="02000603060000020004" pitchFamily="50" charset="0"/>
              </a:rPr>
              <a:t>:</a:t>
            </a: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Comprender el lenguaje BPEL y su aplicación en procesos de negocio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Identificar su estructura, características y relación con BPMN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</a:t>
            </a:r>
            <a:r>
              <a:rPr lang="es-419" sz="2800" dirty="0">
                <a:latin typeface="Stag Medium" panose="02000603060000020004" pitchFamily="50" charset="0"/>
              </a:rPr>
              <a:t>BPEL</a:t>
            </a:r>
            <a:r>
              <a:rPr lang="en-US" sz="2800" dirty="0">
                <a:latin typeface="Stag Medium" panose="02000603060000020004" pitchFamily="50" charset="0"/>
              </a:rPr>
              <a:t>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Lenguaje XML para describir procesos de negocio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Permite orquestar servicios web (WS)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Nombre completo: WS-BPEL (Web Services – BPEL)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6975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Caracteristicas Principales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s-419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Basado en XML y estándares de servicios web (SOAP, WSDL, UDDI)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Control secuencial y paralelo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Manejo de condiciones, bucles, variables y errores</a:t>
            </a:r>
          </a:p>
          <a:p>
            <a:endParaRPr lang="es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4696389" cy="368116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¿Para qué se usa BPEL?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Ejecutar procesos empresariales que integran múltiples servicios web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Permite coordinar servicios externos como si fuera un solo flujo de negocio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Cliente solicita un servicio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Proceso BPEL invoca múltiples servicios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Se devuelve la respuesta final al cliente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Orquestación vs Coreografía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Orquestación: Control centralizado (BPEL)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Coreografía: Control descentralizado, describe interacciones entre servicios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Estructura de un documento BPEL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Archivo .bpel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Etiqueta raíz: &lt;process name="..."&gt;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Contiene: &lt;partnerLinks&gt;, &lt;variables&gt;, &lt;sequence&gt;, etc.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Principales etiquetas BPEL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&lt;receive&gt;: Recibir mensaje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&lt;invoke&gt;: Llamar a servicio web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&lt;reply&gt;: Enviar respuesta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&lt;sequence&gt;, &lt;if&gt;, &lt;while&gt;, &lt;forEach&gt;, etc.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Ejemplo: Agencia de viajes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Usuario compra paquete (vuelo + hotel)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Agencia invoca servicios externos: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Reserva aérea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Reserva hotelera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Confirmación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89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Mapeo BPMN a BPEL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Tareas del BPMN → instrucciones BPEL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Inicio y fin → &lt;receive&gt; y &lt;reply&gt;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Tareas → &lt;invoke&gt;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99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BPEL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Desarrollo de Proceso BPEL – Paso 1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Identificar servicios web implicados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Aerolínea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Hotel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Sistema de ventas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5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Desarrollo de Proceso BPEL – Paso 2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WSDL del proceso BPEL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Operaciones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Mensajes entrada/salida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5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Desarrollo de Proceso BPEL – Paso 3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los Partner Links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Relación entre BPEL y servicios implicados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Cliente ↔ Proceso ↔ Proveedores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9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Desarrollo de Proceso BPEL – Paso 4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cuerpo del proceso: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Orden de invocación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Condicionales y bucles si aplica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43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Coreografía de procesos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Interacción colaborativa sin controlador central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Uso en modelos descentralizados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0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2 servicios SOAP: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Saludar(nombre)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CalcularEdad(añoNacimiento)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Invocarlos desde un proceso BPEL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2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BPEL coordina servicios web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Puede mapearse desde BPMN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464</Words>
  <Application>Microsoft Office PowerPoint</Application>
  <PresentationFormat>Panorámica</PresentationFormat>
  <Paragraphs>50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Inicio</vt:lpstr>
      <vt:lpstr>Inicio</vt:lpstr>
      <vt:lpstr>Actividad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Manrique Ruiz Jose Carlos</cp:lastModifiedBy>
  <cp:revision>54</cp:revision>
  <dcterms:created xsi:type="dcterms:W3CDTF">2020-07-21T23:18:10Z</dcterms:created>
  <dcterms:modified xsi:type="dcterms:W3CDTF">2025-06-26T04:56:52Z</dcterms:modified>
</cp:coreProperties>
</file>