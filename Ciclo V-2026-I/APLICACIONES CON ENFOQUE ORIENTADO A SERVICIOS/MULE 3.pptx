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259" r:id="rId5"/>
    <p:sldId id="620" r:id="rId6"/>
    <p:sldId id="565" r:id="rId7"/>
    <p:sldId id="555" r:id="rId8"/>
    <p:sldId id="621" r:id="rId9"/>
    <p:sldId id="622" r:id="rId10"/>
    <p:sldId id="635" r:id="rId11"/>
    <p:sldId id="636" r:id="rId12"/>
    <p:sldId id="637" r:id="rId13"/>
    <p:sldId id="638" r:id="rId14"/>
    <p:sldId id="623" r:id="rId15"/>
    <p:sldId id="639" r:id="rId16"/>
    <p:sldId id="640" r:id="rId17"/>
    <p:sldId id="641" r:id="rId18"/>
    <p:sldId id="624" r:id="rId19"/>
    <p:sldId id="625" r:id="rId20"/>
    <p:sldId id="626" r:id="rId21"/>
    <p:sldId id="627" r:id="rId22"/>
    <p:sldId id="642" r:id="rId23"/>
    <p:sldId id="643" r:id="rId24"/>
    <p:sldId id="644" r:id="rId25"/>
    <p:sldId id="645" r:id="rId26"/>
    <p:sldId id="646" r:id="rId27"/>
    <p:sldId id="647" r:id="rId28"/>
    <p:sldId id="648" r:id="rId29"/>
    <p:sldId id="649" r:id="rId30"/>
    <p:sldId id="628" r:id="rId31"/>
    <p:sldId id="629" r:id="rId32"/>
    <p:sldId id="630" r:id="rId33"/>
    <p:sldId id="650" r:id="rId34"/>
    <p:sldId id="651" r:id="rId35"/>
    <p:sldId id="652" r:id="rId36"/>
    <p:sldId id="653" r:id="rId37"/>
    <p:sldId id="654" r:id="rId38"/>
    <p:sldId id="655" r:id="rId39"/>
    <p:sldId id="631" r:id="rId40"/>
    <p:sldId id="656" r:id="rId41"/>
    <p:sldId id="657" r:id="rId42"/>
    <p:sldId id="658" r:id="rId43"/>
    <p:sldId id="659" r:id="rId44"/>
    <p:sldId id="660" r:id="rId45"/>
    <p:sldId id="556" r:id="rId46"/>
    <p:sldId id="632" r:id="rId47"/>
    <p:sldId id="633" r:id="rId48"/>
    <p:sldId id="634" r:id="rId49"/>
    <p:sldId id="559" r:id="rId50"/>
    <p:sldId id="587" r:id="rId51"/>
    <p:sldId id="265" r:id="rId52"/>
  </p:sldIdLst>
  <p:sldSz cx="12192000" cy="6858000"/>
  <p:notesSz cx="6858000" cy="9144000"/>
  <p:embeddedFontLs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Muller Regular" charset="0"/>
      <p:regular r:id="rId57"/>
    </p:embeddedFont>
    <p:embeddedFont>
      <p:font typeface="Stag Book" panose="02000503060000020004" charset="0"/>
      <p:regular r:id="rId58"/>
      <p:italic r:id="rId59"/>
    </p:embeddedFont>
    <p:embeddedFont>
      <p:font typeface="Stag Light" panose="02000603060000020004" charset="0"/>
      <p:regular r:id="rId60"/>
      <p:italic r:id="rId61"/>
    </p:embeddedFont>
    <p:embeddedFont>
      <p:font typeface="Stag Medium" panose="02000603060000020004" charset="0"/>
      <p:regular r:id="rId62"/>
      <p:italic r:id="rId63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3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8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26/03/2026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Mule ESB III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34617" y="2455567"/>
            <a:ext cx="6082488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Objetivos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Configurar parámetros externos con .properties.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Crear y ejecutar pruebas unitarias con MUnit.</a:t>
            </a:r>
            <a:endParaRPr lang="es-419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Elaborar y consumir API REST documentada con RAML.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F17CE7-55B3-1188-4265-1165A46A4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152" y="3429000"/>
            <a:ext cx="4424745" cy="22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4211" y="2475922"/>
            <a:ext cx="5514474" cy="3838196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Contexto previo</a:t>
            </a:r>
          </a:p>
          <a:p>
            <a:endParaRPr lang="es-419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Uso de Mule ESB con ActiveMQ (colas).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Consumo de servicios SOAP y 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Necesidad de automatizar pruebas y parametrizar rutas.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US" sz="14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8E5923B-5329-24CE-80E5-C9FD22EB5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533" y="2993921"/>
            <a:ext cx="5488750" cy="193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Importancia en Proyectos Reales</a:t>
            </a:r>
            <a:endParaRPr lang="es-ES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Parametrización facilita mantenimiento y portabilidad.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Pruebas unitarias aseguran calidad y automatización.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RAML permite documentación y consumo estandarizado de APIs.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71D5D6A-0BFE-56E0-C2C6-A3FB56307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316" y="2803364"/>
            <a:ext cx="5279684" cy="296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Mule ESB I y II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03157" y="2475922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Archivos .properties</a:t>
            </a:r>
            <a:endParaRPr lang="es-ES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Archivos de texto con formato clave=valor.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Guardan parámetros como rutas o puertos.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Se usan internos o externos al proyecto.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3679253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 interno:</a:t>
            </a:r>
            <a:endParaRPr lang="es-ES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2000" dirty="0"/>
          </a:p>
          <a:p>
            <a:r>
              <a:rPr lang="es-US" sz="1800" dirty="0"/>
              <a:t>port.queue=6116</a:t>
            </a:r>
            <a:endParaRPr lang="es-419" sz="1800" dirty="0"/>
          </a:p>
          <a:p>
            <a:r>
              <a:rPr lang="es-US" sz="1800" dirty="0"/>
              <a:t>queue.name=colaPedidos</a:t>
            </a:r>
            <a:endParaRPr lang="es-419" sz="1800" dirty="0"/>
          </a:p>
          <a:p>
            <a:endParaRPr lang="es-419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Ubicado en src/main/resources.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Referenciado en flujo con Configuration XML.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DCB2D1C-8137-A1A5-1C1A-60D32C690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041" y="2327582"/>
            <a:ext cx="8041171" cy="314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9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67088-B2EC-C663-4073-BFF89C32DC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6" y="1958211"/>
            <a:ext cx="11373547" cy="19320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1027043-8085-9AEA-DBA4-F9DF1A7B01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16421"/>
            <a:ext cx="10784083" cy="242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79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59A0C4-6137-20CE-D1C1-C28A9BE41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53" y="1932040"/>
            <a:ext cx="9735894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70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51E43E2-318C-BB76-E9FE-64BAB3490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593" y="2112210"/>
            <a:ext cx="7816812" cy="474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FFD6488-F525-78B6-F920-21E7F9394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13" y="1932040"/>
            <a:ext cx="9560974" cy="450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7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4616822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 externo (.properties):</a:t>
            </a:r>
            <a:endParaRPr lang="es-ES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Carpeta externa: C:\Mule\properties\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Configurar wrapper.conf para ruta.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Copiar ejemplo.properties a esa carpeta.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5849F81-1B53-368A-86EE-18792997A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01" y="3429000"/>
            <a:ext cx="7538399" cy="233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68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36F368-CA90-6FEE-2660-535AABB8F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61" y="1932039"/>
            <a:ext cx="10839877" cy="351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77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7BE2B2B-37E4-2362-032B-35B35105E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3" y="2162267"/>
            <a:ext cx="10821874" cy="381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B53965-D169-18BD-9FEC-CD62132E1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5922"/>
            <a:ext cx="11030703" cy="378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88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Ventajas del uso externo</a:t>
            </a:r>
            <a:endParaRPr lang="es-ES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Cambiar parámetros sin re-deploy.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Un archivo para varios proyectos.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Ideal para Mule StandAlone.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63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Pruebas unitarias con MUnit</a:t>
            </a:r>
          </a:p>
          <a:p>
            <a:endParaRPr lang="es-ES" sz="2800" dirty="0">
              <a:latin typeface="Stag Medium" panose="0200060306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Framework de pruebas para Mule.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Permite testear flujos sin servidor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Se integra con Maven y CI/CD.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018AAE-0A72-4AC8-DF83-EDBAECECE5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3857992"/>
            <a:ext cx="5542535" cy="266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19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Beneficios de MUnit</a:t>
            </a:r>
          </a:p>
          <a:p>
            <a:endParaRPr lang="es-ES" sz="1800" dirty="0">
              <a:latin typeface="Stag Medium" panose="02000603060000020004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Validar payloads y respuestas.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Simular endpoints y procesadores.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Generar reportes de cobertura.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03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Pasos para crear prueba MUnit</a:t>
            </a:r>
          </a:p>
          <a:p>
            <a:endParaRPr lang="es-419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Clic derecho en el flujo → MUnit &gt; Create new suite.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Añadir componente Set Message.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Configurar payload de prueba (JSON o XML).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Añadir Assert True para validar la salida.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9CC91D1-FC5F-C353-4A36-DC526A37E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326" y="4644775"/>
            <a:ext cx="6005109" cy="156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62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A345AD-3FBA-459E-4963-6DE4C3504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46" y="2011947"/>
            <a:ext cx="10649907" cy="4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6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A345AD-3FBA-459E-4963-6DE4C3504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46" y="2011947"/>
            <a:ext cx="10649907" cy="4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41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629D93-2952-57C2-AF76-A14FAF4D09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00" y="1932039"/>
            <a:ext cx="10120800" cy="48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41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3951D1D-E9EC-8C41-CD4F-F2F146942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202" y="1932040"/>
            <a:ext cx="8075595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35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EAA244-D4C0-B419-26F7-3A1919B56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7" y="1932039"/>
            <a:ext cx="12099206" cy="4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82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CB6396-FF6D-75DA-BAC7-C5FFC400D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3" y="1932040"/>
            <a:ext cx="7068953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39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457AFF-5FCA-EF5B-CBB6-E063FA654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940" y="1932040"/>
            <a:ext cx="8056119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24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A2EACED-EA0D-F8FE-BF96-F2602F979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88" y="1932040"/>
            <a:ext cx="9234624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79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 de prueba MUnit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1800" dirty="0">
              <a:latin typeface="Stag Medium" panose="02000603060000020004" pitchFamily="50" charset="0"/>
            </a:endParaRPr>
          </a:p>
          <a:p>
            <a:r>
              <a:rPr lang="es-US" sz="1800" dirty="0"/>
              <a:t>&lt;munit:set-message value="#[payload]" /&gt;</a:t>
            </a:r>
            <a:endParaRPr lang="es-419" sz="1800" dirty="0"/>
          </a:p>
          <a:p>
            <a:r>
              <a:rPr lang="es-US" sz="1800" dirty="0"/>
              <a:t>&lt;munit:assert-true expression="#[payload contains 'Éxito']" /&gt;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41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RAML: Documentar APIs 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2800" dirty="0">
              <a:latin typeface="Stag Medium" panose="0200060306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Lenguaje YAML para describir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Permite generar flujos automáticamente con APIKit.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Facilita consumo por otros equipos.</a:t>
            </a:r>
          </a:p>
          <a:p>
            <a:endParaRPr lang="es-419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69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Creación de archivo RAML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sz="1800" dirty="0">
              <a:latin typeface="Stag Medium" panose="02000603060000020004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Crear archivo en src/main/api.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Definir título, versión y URI 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Documentar método POST /ordenes.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Generar flujos desde RAML con APIKit.</a:t>
            </a:r>
          </a:p>
          <a:p>
            <a:endParaRPr lang="es-419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A3FAAAE-4F49-DCA9-2627-F1A35FA1F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760" y="1941142"/>
            <a:ext cx="6418663" cy="491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48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417FFDD-A84B-7CF2-8F64-EB5C9AA73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2039"/>
            <a:ext cx="10245996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59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13D7399-8A3C-24B8-9763-9C780495E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848" y="1932040"/>
            <a:ext cx="9082304" cy="491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62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EE9679-BCC2-49C2-B90F-6DF14541A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20" y="2475922"/>
            <a:ext cx="10493377" cy="340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61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5F8BB5D-7D4B-86D3-8EC3-3E5A89F49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39" y="1932040"/>
            <a:ext cx="10844722" cy="44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60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32990D-B710-560E-4706-B7A8A0709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81" y="2236462"/>
            <a:ext cx="10517302" cy="31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8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36C6824-1745-53C3-A48F-297F28AE5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232" y="1932040"/>
            <a:ext cx="7881535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29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4777370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Consumo de RAML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419" sz="1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Crear nuevo flujo HTTP.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Configurar conector usando archivo .raml.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Añadir Logger para mostrar payload y respuesta.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Probar con Postman.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CFF714-136D-B4F2-41B8-76B2ED380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900" y="1958210"/>
            <a:ext cx="7356100" cy="465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01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B32D356-FA19-BB4F-7247-8025C7936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112" y="1932040"/>
            <a:ext cx="7245775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24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40CF846-A8C6-8311-AC07-15FC0B87C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770" y="2002802"/>
            <a:ext cx="8180459" cy="485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43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ED1838-40AA-5334-6AF2-1D7EE5710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446" y="1932040"/>
            <a:ext cx="8755108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01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07F2C3C-435B-470D-83CF-0862FA2C0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61" y="2475922"/>
            <a:ext cx="11615677" cy="3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33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21C03B-CAE3-734D-CD96-F5F603D20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728" y="1935960"/>
            <a:ext cx="8466053" cy="492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15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Actividad práctica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419" sz="2800" dirty="0">
              <a:latin typeface="Stag Medium" panose="0200060306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Configurar .properties para SOAP y 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Crear pruebas unitarias con MUnit.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Documentar servicio REST con RAML.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87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Pasos de la actividad</a:t>
            </a:r>
          </a:p>
          <a:p>
            <a:endParaRPr lang="es-419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Configurar parámetros en .properties.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Ejecutar prueba unitaria en MUnit.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800" dirty="0"/>
              <a:t>Documentar y consumir endpoint con RAML.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91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6816054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Criterios del logro</a:t>
            </a:r>
          </a:p>
          <a:p>
            <a:endParaRPr lang="es-419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Configuración correcta y reutilizable.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Prueba unitaria ejecutada exitosamente.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Documentación y consumo RAML funcional.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U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1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47592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Cierre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preguntas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2800" dirty="0">
              <a:latin typeface="Stag Medium" panose="02000603060000020004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Repaso de .properties, MUnit y RAML.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Relevancia en proyectos reales.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Preguntas y próximos pasos.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US" sz="1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31281C-1D8E-89E6-EE7E-8E85D0371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616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534</Words>
  <Application>Microsoft Office PowerPoint</Application>
  <PresentationFormat>Panorámica</PresentationFormat>
  <Paragraphs>156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Stag Book</vt:lpstr>
      <vt:lpstr>Stag Medium</vt:lpstr>
      <vt:lpstr>Arial</vt:lpstr>
      <vt:lpstr>Muller Regular</vt:lpstr>
      <vt:lpstr>Stag Light</vt:lpstr>
      <vt:lpstr>Calibri</vt:lpstr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Desarrollo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Actividad</vt:lpstr>
      <vt:lpstr>Inicio</vt:lpstr>
      <vt:lpstr>Inicio</vt:lpstr>
      <vt:lpstr>Inicio</vt:lpstr>
      <vt:lpstr>Término</vt:lpstr>
      <vt:lpstr>Inicio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Idat</cp:lastModifiedBy>
  <cp:revision>59</cp:revision>
  <dcterms:created xsi:type="dcterms:W3CDTF">2020-07-21T23:18:10Z</dcterms:created>
  <dcterms:modified xsi:type="dcterms:W3CDTF">2026-03-27T02:13:17Z</dcterms:modified>
</cp:coreProperties>
</file>